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evidence/lexical/metrics.json and evidence/semantic/metrics.json. In-sample intrinsic scores; unverified OCR pilot.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43A"/>
        </a:solidFill>
        <a:effectLst/>
      </p:bgPr>
    </p:bg>
    <p:spTree>
      <p:nvGrpSpPr>
        <p:cNvPr id="1" name=""/>
        <p:cNvGrpSpPr/>
        <p:nvPr/>
      </p:nvGrpSpPr>
      <p:grpSpPr/>
      <p:sp>
        <p:nvSpPr>
          <p:cNvPr id="2" name="TextBox 1"/>
          <p:cNvSpPr txBox="1"/>
          <p:nvPr/>
        </p:nvSpPr>
        <p:spPr>
          <a:xfrm>
            <a:off x="777240" y="731520"/>
            <a:ext cx="10515600" cy="457200"/>
          </a:xfrm>
          <a:prstGeom prst="rect">
            <a:avLst/>
          </a:prstGeom>
          <a:noFill/>
        </p:spPr>
        <p:txBody>
          <a:bodyPr wrap="square">
            <a:spAutoFit/>
          </a:bodyPr>
          <a:lstStyle/>
          <a:p>
            <a:pPr>
              <a:spcAft>
                <a:spcPts val="1200"/>
              </a:spcAft>
              <a:defRPr sz="1500" b="1">
                <a:solidFill>
                  <a:srgbClr val="63D5D0"/>
                </a:solidFill>
                <a:latin typeface="Aptos"/>
              </a:defRPr>
            </a:pPr>
            <a:r>
              <a:t>DAVAO CITY MUNICIPAL ORDINANCES</a:t>
            </a:r>
          </a:p>
        </p:txBody>
      </p:sp>
      <p:sp>
        <p:nvSpPr>
          <p:cNvPr id="3" name="TextBox 2"/>
          <p:cNvSpPr txBox="1"/>
          <p:nvPr/>
        </p:nvSpPr>
        <p:spPr>
          <a:xfrm>
            <a:off x="777240" y="1645920"/>
            <a:ext cx="10515600" cy="1828800"/>
          </a:xfrm>
          <a:prstGeom prst="rect">
            <a:avLst/>
          </a:prstGeom>
          <a:noFill/>
        </p:spPr>
        <p:txBody>
          <a:bodyPr wrap="square">
            <a:spAutoFit/>
          </a:bodyPr>
          <a:lstStyle/>
          <a:p>
            <a:pPr>
              <a:spcAft>
                <a:spcPts val="1200"/>
              </a:spcAft>
              <a:defRPr sz="4000" b="1">
                <a:solidFill>
                  <a:srgbClr val="FFFFFF"/>
                </a:solidFill>
                <a:latin typeface="Aptos"/>
              </a:defRPr>
            </a:pPr>
            <a:r>
              <a:t>Two models.</a:t>
            </a:r>
          </a:p>
          <a:p>
            <a:pPr>
              <a:spcAft>
                <a:spcPts val="1200"/>
              </a:spcAft>
              <a:defRPr sz="4000" b="1">
                <a:solidFill>
                  <a:srgbClr val="FFFFFF"/>
                </a:solidFill>
                <a:latin typeface="Aptos"/>
              </a:defRPr>
            </a:pPr>
            <a:r>
              <a:t>One shared ordinance sample.</a:t>
            </a:r>
          </a:p>
        </p:txBody>
      </p:sp>
      <p:sp>
        <p:nvSpPr>
          <p:cNvPr id="4" name="TextBox 3"/>
          <p:cNvSpPr txBox="1"/>
          <p:nvPr/>
        </p:nvSpPr>
        <p:spPr>
          <a:xfrm>
            <a:off x="777240" y="3749039"/>
            <a:ext cx="10515600" cy="594360"/>
          </a:xfrm>
          <a:prstGeom prst="rect">
            <a:avLst/>
          </a:prstGeom>
          <a:noFill/>
        </p:spPr>
        <p:txBody>
          <a:bodyPr wrap="square">
            <a:spAutoFit/>
          </a:bodyPr>
          <a:lstStyle/>
          <a:p>
            <a:pPr>
              <a:spcAft>
                <a:spcPts val="1200"/>
              </a:spcAft>
              <a:defRPr sz="2100" b="0">
                <a:solidFill>
                  <a:srgbClr val="DBE8F2"/>
                </a:solidFill>
                <a:latin typeface="Aptos"/>
              </a:defRPr>
            </a:pPr>
            <a:r>
              <a:t>Lexical TF-IDF + c-TF-IDF  vs  Legal-BERT + BERTopic</a:t>
            </a:r>
          </a:p>
        </p:txBody>
      </p:sp>
      <p:sp>
        <p:nvSpPr>
          <p:cNvPr id="5" name="TextBox 4"/>
          <p:cNvSpPr txBox="1"/>
          <p:nvPr/>
        </p:nvSpPr>
        <p:spPr>
          <a:xfrm>
            <a:off x="777240" y="4754880"/>
            <a:ext cx="10515600" cy="914400"/>
          </a:xfrm>
          <a:prstGeom prst="rect">
            <a:avLst/>
          </a:prstGeom>
          <a:noFill/>
        </p:spPr>
        <p:txBody>
          <a:bodyPr wrap="square">
            <a:spAutoFit/>
          </a:bodyPr>
          <a:lstStyle/>
          <a:p>
            <a:pPr>
              <a:spcAft>
                <a:spcPts val="1200"/>
              </a:spcAft>
              <a:defRPr sz="1800" b="0">
                <a:solidFill>
                  <a:srgbClr val="DBE8F2"/>
                </a:solidFill>
                <a:latin typeface="Aptos"/>
              </a:defRPr>
            </a:pPr>
            <a:r>
              <a:t>Initial measured results · 200 sections · 2016–2025</a:t>
            </a:r>
          </a:p>
          <a:p>
            <a:pPr>
              <a:spcAft>
                <a:spcPts val="1200"/>
              </a:spcAft>
              <a:defRPr sz="1800" b="0">
                <a:solidFill>
                  <a:srgbClr val="DBE8F2"/>
                </a:solidFill>
                <a:latin typeface="Aptos"/>
              </a:defRPr>
            </a:pPr>
            <a:r>
              <a:t>Corpuz · Lamsin · Nuril</a:t>
            </a:r>
          </a:p>
        </p:txBody>
      </p:sp>
      <p:sp>
        <p:nvSpPr>
          <p:cNvPr id="6" name="TextBox 5"/>
          <p:cNvSpPr txBox="1"/>
          <p:nvPr/>
        </p:nvSpPr>
        <p:spPr>
          <a:xfrm>
            <a:off x="777240" y="6309360"/>
            <a:ext cx="10515600" cy="274320"/>
          </a:xfrm>
          <a:prstGeom prst="rect">
            <a:avLst/>
          </a:prstGeom>
          <a:noFill/>
        </p:spPr>
        <p:txBody>
          <a:bodyPr wrap="square">
            <a:spAutoFit/>
          </a:bodyPr>
          <a:lstStyle/>
          <a:p>
            <a:pPr>
              <a:spcAft>
                <a:spcPts val="1200"/>
              </a:spcAft>
              <a:defRPr sz="1200" b="1">
                <a:solidFill>
                  <a:srgbClr val="F9BF88"/>
                </a:solidFill>
                <a:latin typeface="Aptos"/>
              </a:defRPr>
            </a:pPr>
            <a:r>
              <a:t>EXPLORATORY / UNVERIFIED OCR / NOT A FINAL MODEL SELECTION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RESEARCH STATUS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What this experiment can—and cannot—show</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02</a:t>
            </a:r>
          </a:p>
        </p:txBody>
      </p:sp>
      <p:sp>
        <p:nvSpPr>
          <p:cNvPr id="7" name="TextBox 6"/>
          <p:cNvSpPr txBox="1"/>
          <p:nvPr/>
        </p:nvSpPr>
        <p:spPr>
          <a:xfrm>
            <a:off x="640080" y="1691640"/>
            <a:ext cx="5486400" cy="4206240"/>
          </a:xfrm>
          <a:prstGeom prst="rect">
            <a:avLst/>
          </a:prstGeom>
          <a:noFill/>
        </p:spPr>
        <p:txBody>
          <a:bodyPr wrap="square">
            <a:spAutoFit/>
          </a:bodyPr>
          <a:lstStyle/>
          <a:p>
            <a:pPr>
              <a:spcAft>
                <a:spcPts val="1200"/>
              </a:spcAft>
              <a:defRPr sz="2000" b="0">
                <a:solidFill>
                  <a:srgbClr val="18334A"/>
                </a:solidFill>
                <a:latin typeface="Aptos"/>
              </a:defRPr>
            </a:pPr>
            <a:r>
              <a:t>MEASURED NOW</a:t>
            </a:r>
          </a:p>
          <a:p>
            <a:pPr>
              <a:spcAft>
                <a:spcPts val="1200"/>
              </a:spcAft>
              <a:defRPr sz="2000" b="0">
                <a:solidFill>
                  <a:srgbClr val="18334A"/>
                </a:solidFill>
                <a:latin typeface="Aptos"/>
              </a:defRPr>
            </a:pPr>
            <a:r>
              <a:t>Two complete model paths on identical sections</a:t>
            </a:r>
          </a:p>
          <a:p>
            <a:pPr>
              <a:spcAft>
                <a:spcPts val="1200"/>
              </a:spcAft>
              <a:defRPr sz="2000" b="0">
                <a:solidFill>
                  <a:srgbClr val="18334A"/>
                </a:solidFill>
                <a:latin typeface="Aptos"/>
              </a:defRPr>
            </a:pPr>
            <a:r>
              <a:t>Two parameter configurations with three seed runs</a:t>
            </a:r>
          </a:p>
          <a:p>
            <a:pPr>
              <a:spcAft>
                <a:spcPts val="1200"/>
              </a:spcAft>
              <a:defRPr sz="2000" b="0">
                <a:solidFill>
                  <a:srgbClr val="18334A"/>
                </a:solidFill>
                <a:latin typeface="Aptos"/>
              </a:defRPr>
            </a:pPr>
            <a:r>
              <a:t>C_v, diversity, coverage, outliers and stability</a:t>
            </a:r>
          </a:p>
          <a:p>
            <a:pPr>
              <a:spcAft>
                <a:spcPts val="1200"/>
              </a:spcAft>
              <a:defRPr sz="2000" b="0">
                <a:solidFill>
                  <a:srgbClr val="18334A"/>
                </a:solidFill>
                <a:latin typeface="Aptos"/>
              </a:defRPr>
            </a:pPr>
            <a:r>
              <a:t>Source-linked BERT vectors and yearly visualizations</a:t>
            </a:r>
          </a:p>
        </p:txBody>
      </p:sp>
      <p:sp>
        <p:nvSpPr>
          <p:cNvPr id="8" name="TextBox 7"/>
          <p:cNvSpPr txBox="1"/>
          <p:nvPr/>
        </p:nvSpPr>
        <p:spPr>
          <a:xfrm>
            <a:off x="6446520" y="1691640"/>
            <a:ext cx="5120640" cy="4206240"/>
          </a:xfrm>
          <a:prstGeom prst="rect">
            <a:avLst/>
          </a:prstGeom>
          <a:noFill/>
        </p:spPr>
        <p:txBody>
          <a:bodyPr wrap="square">
            <a:spAutoFit/>
          </a:bodyPr>
          <a:lstStyle/>
          <a:p>
            <a:pPr>
              <a:spcAft>
                <a:spcPts val="1200"/>
              </a:spcAft>
              <a:defRPr sz="2000" b="0">
                <a:solidFill>
                  <a:srgbClr val="607487"/>
                </a:solidFill>
                <a:latin typeface="Aptos"/>
              </a:defRPr>
            </a:pPr>
            <a:r>
              <a:t>NOT YET ESTABLISHED</a:t>
            </a:r>
          </a:p>
          <a:p>
            <a:pPr>
              <a:spcAft>
                <a:spcPts val="1200"/>
              </a:spcAft>
              <a:defRPr sz="2000" b="0">
                <a:solidFill>
                  <a:srgbClr val="607487"/>
                </a:solidFill>
                <a:latin typeface="Aptos"/>
              </a:defRPr>
            </a:pPr>
            <a:r>
              <a:t>Human-verified corpus or legal topic labels</a:t>
            </a:r>
          </a:p>
          <a:p>
            <a:pPr>
              <a:spcAft>
                <a:spcPts val="1200"/>
              </a:spcAft>
              <a:defRPr sz="2000" b="0">
                <a:solidFill>
                  <a:srgbClr val="607487"/>
                </a:solidFill>
                <a:latin typeface="Aptos"/>
              </a:defRPr>
            </a:pPr>
            <a:r>
              <a:t>Held-out generalization or optimal parameters</a:t>
            </a:r>
          </a:p>
          <a:p>
            <a:pPr>
              <a:spcAft>
                <a:spcPts val="1200"/>
              </a:spcAft>
              <a:defRPr sz="2000" b="0">
                <a:solidFill>
                  <a:srgbClr val="607487"/>
                </a:solidFill>
                <a:latin typeface="Aptos"/>
              </a:defRPr>
            </a:pPr>
            <a:r>
              <a:t>Expert validation and final thesis conclusions</a:t>
            </a:r>
          </a:p>
          <a:p>
            <a:pPr>
              <a:spcAft>
                <a:spcPts val="1200"/>
              </a:spcAft>
              <a:defRPr sz="2000" b="0">
                <a:solidFill>
                  <a:srgbClr val="607487"/>
                </a:solidFill>
                <a:latin typeface="Aptos"/>
              </a:defRPr>
            </a:pPr>
            <a:r>
              <a:t>Population-level changes in municipal policy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SOURCE ALIGNMENT</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Newer methodology governs the implementation</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03</a:t>
            </a:r>
          </a:p>
        </p:txBody>
      </p:sp>
      <p:sp>
        <p:nvSpPr>
          <p:cNvPr id="7" name="TextBox 6"/>
          <p:cNvSpPr txBox="1"/>
          <p:nvPr/>
        </p:nvSpPr>
        <p:spPr>
          <a:xfrm>
            <a:off x="731520" y="1691640"/>
            <a:ext cx="10698480" cy="4389120"/>
          </a:xfrm>
          <a:prstGeom prst="rect">
            <a:avLst/>
          </a:prstGeom>
          <a:noFill/>
        </p:spPr>
        <p:txBody>
          <a:bodyPr wrap="square">
            <a:spAutoFit/>
          </a:bodyPr>
          <a:lstStyle/>
          <a:p>
            <a:pPr>
              <a:spcAft>
                <a:spcPts val="1200"/>
              </a:spcAft>
              <a:defRPr sz="2000" b="0">
                <a:solidFill>
                  <a:srgbClr val="18334A"/>
                </a:solidFill>
                <a:latin typeface="Aptos"/>
              </a:defRPr>
            </a:pPr>
            <a:r>
              <a:t>Milestone-1_Corpus-Lamsin-Nuril.pdf</a:t>
            </a:r>
          </a:p>
          <a:p>
            <a:pPr>
              <a:spcAft>
                <a:spcPts val="1200"/>
              </a:spcAft>
              <a:defRPr sz="2000" b="0">
                <a:solidFill>
                  <a:srgbClr val="18334A"/>
                </a:solidFill>
                <a:latin typeface="Aptos"/>
              </a:defRPr>
            </a:pPr>
            <a:r>
              <a:t>2016–2025; section-level Legal-BERT, UMAP, HDBSCAN, c-TF-IDF; temporal analysis and expert validation.</a:t>
            </a:r>
          </a:p>
          <a:p>
            <a:pPr>
              <a:spcAft>
                <a:spcPts val="1200"/>
              </a:spcAft>
              <a:defRPr sz="2000" b="0">
                <a:solidFill>
                  <a:srgbClr val="18334A"/>
                </a:solidFill>
                <a:latin typeface="Aptos"/>
              </a:defRPr>
            </a:pPr>
          </a:p>
          <a:p>
            <a:pPr>
              <a:spcAft>
                <a:spcPts val="1200"/>
              </a:spcAft>
              <a:defRPr sz="2000" b="0">
                <a:solidFill>
                  <a:srgbClr val="18334A"/>
                </a:solidFill>
                <a:latin typeface="Aptos"/>
              </a:defRPr>
            </a:pPr>
            <a:r>
              <a:t>diagram.png</a:t>
            </a:r>
          </a:p>
          <a:p>
            <a:pPr>
              <a:spcAft>
                <a:spcPts val="1200"/>
              </a:spcAft>
              <a:defRPr sz="2000" b="0">
                <a:solidFill>
                  <a:srgbClr val="18334A"/>
                </a:solidFill>
                <a:latin typeface="Aptos"/>
              </a:defRPr>
            </a:pPr>
            <a:r>
              <a:t>Explicit Model A lexical path versus Model B embedding path.</a:t>
            </a:r>
          </a:p>
          <a:p>
            <a:pPr>
              <a:spcAft>
                <a:spcPts val="1200"/>
              </a:spcAft>
              <a:defRPr sz="2000" b="0">
                <a:solidFill>
                  <a:srgbClr val="18334A"/>
                </a:solidFill>
                <a:latin typeface="Aptos"/>
              </a:defRPr>
            </a:pPr>
          </a:p>
          <a:p>
            <a:pPr>
              <a:spcAft>
                <a:spcPts val="1200"/>
              </a:spcAft>
              <a:defRPr sz="2000" b="0">
                <a:solidFill>
                  <a:srgbClr val="18334A"/>
                </a:solidFill>
                <a:latin typeface="Aptos"/>
              </a:defRPr>
            </a:pPr>
            <a:r>
              <a:t>Thesis_Corpuz, Lamsin, Nuril.pdf</a:t>
            </a:r>
          </a:p>
          <a:p>
            <a:pPr>
              <a:spcAft>
                <a:spcPts val="1200"/>
              </a:spcAft>
              <a:defRPr sz="2000" b="0">
                <a:solidFill>
                  <a:srgbClr val="18334A"/>
                </a:solidFill>
                <a:latin typeface="Aptos"/>
              </a:defRPr>
            </a:pPr>
            <a:r>
              <a:t>Earlier LDA proposal. Retained as historical context, not the current two-model specification.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DATA AUDIT</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Corpus readiness is the largest limitation</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04</a:t>
            </a:r>
          </a:p>
        </p:txBody>
      </p:sp>
      <p:sp>
        <p:nvSpPr>
          <p:cNvPr id="7" name="TextBox 6"/>
          <p:cNvSpPr txBox="1"/>
          <p:nvPr/>
        </p:nvSpPr>
        <p:spPr>
          <a:xfrm>
            <a:off x="731520" y="1645920"/>
            <a:ext cx="10698480" cy="4480560"/>
          </a:xfrm>
          <a:prstGeom prst="rect">
            <a:avLst/>
          </a:prstGeom>
          <a:noFill/>
        </p:spPr>
        <p:txBody>
          <a:bodyPr wrap="square">
            <a:spAutoFit/>
          </a:bodyPr>
          <a:lstStyle/>
          <a:p>
            <a:pPr>
              <a:spcAft>
                <a:spcPts val="1200"/>
              </a:spcAft>
              <a:defRPr sz="2100" b="0">
                <a:solidFill>
                  <a:srgbClr val="18334A"/>
                </a:solidFill>
                <a:latin typeface="Aptos"/>
              </a:defRPr>
            </a:pPr>
            <a:r>
              <a:t>7,627 source sections / 1,501 ordinances</a:t>
            </a:r>
          </a:p>
          <a:p>
            <a:pPr>
              <a:spcAft>
                <a:spcPts val="1200"/>
              </a:spcAft>
              <a:defRPr sz="2100" b="0">
                <a:solidFill>
                  <a:srgbClr val="18334A"/>
                </a:solidFill>
                <a:latin typeface="Aptos"/>
              </a:defRPr>
            </a:pPr>
            <a:r>
              <a:t>7,614 source sections are unverified; 13 verified.</a:t>
            </a:r>
          </a:p>
          <a:p>
            <a:pPr>
              <a:spcAft>
                <a:spcPts val="1200"/>
              </a:spcAft>
              <a:defRPr sz="2100" b="0">
                <a:solidFill>
                  <a:srgbClr val="18334A"/>
                </a:solidFill>
                <a:latin typeface="Aptos"/>
              </a:defRPr>
            </a:pPr>
          </a:p>
          <a:p>
            <a:pPr>
              <a:spcAft>
                <a:spcPts val="1200"/>
              </a:spcAft>
              <a:defRPr sz="2100" b="0">
                <a:solidFill>
                  <a:srgbClr val="18334A"/>
                </a:solidFill>
                <a:latin typeface="Aptos"/>
              </a:defRPr>
            </a:pPr>
            <a:r>
              <a:t>Pilot: 200 sections / 184 ordinances</a:t>
            </a:r>
          </a:p>
          <a:p>
            <a:pPr>
              <a:spcAft>
                <a:spcPts val="1200"/>
              </a:spcAft>
              <a:defRPr sz="2100" b="0">
                <a:solidFill>
                  <a:srgbClr val="18334A"/>
                </a:solidFill>
                <a:latin typeface="Aptos"/>
              </a:defRPr>
            </a:pPr>
            <a:r>
              <a:t>20 seeded random sections per year; same ordered sample for both models.</a:t>
            </a:r>
          </a:p>
          <a:p>
            <a:pPr>
              <a:spcAft>
                <a:spcPts val="1200"/>
              </a:spcAft>
              <a:defRPr sz="2100" b="0">
                <a:solidFill>
                  <a:srgbClr val="18334A"/>
                </a:solidFill>
                <a:latin typeface="Aptos"/>
              </a:defRPr>
            </a:pPr>
            <a:r>
              <a:t>200 sampled sections remain unverified; 2 exact repeated texts retained.</a:t>
            </a:r>
          </a:p>
          <a:p>
            <a:pPr>
              <a:spcAft>
                <a:spcPts val="1200"/>
              </a:spcAft>
              <a:defRPr sz="2100" b="0">
                <a:solidFill>
                  <a:srgbClr val="18334A"/>
                </a:solidFill>
                <a:latin typeface="Aptos"/>
              </a:defRPr>
            </a:pPr>
          </a:p>
          <a:p>
            <a:pPr>
              <a:spcAft>
                <a:spcPts val="1200"/>
              </a:spcAft>
              <a:defRPr sz="2100" b="0">
                <a:solidFill>
                  <a:srgbClr val="18334A"/>
                </a:solidFill>
                <a:latin typeface="Aptos"/>
              </a:defRPr>
            </a:pPr>
            <a:r>
              <a:t>No silent OCR correction, semantic relabeling or invented expert scores.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MODEL PIPELINES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Shared inputs; representation is the main difference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05</a:t>
            </a:r>
          </a:p>
        </p:txBody>
      </p:sp>
      <p:pic>
        <p:nvPicPr>
          <p:cNvPr id="7" name="Picture 6" descr="pipelines.png"/>
          <p:cNvPicPr>
            <a:picLocks noChangeAspect="1"/>
          </p:cNvPicPr>
          <p:nvPr/>
        </p:nvPicPr>
        <p:blipFill>
          <a:blip r:embed="rId2"/>
          <a:stretch>
            <a:fillRect/>
          </a:stretch>
        </p:blipFill>
        <p:spPr>
          <a:xfrm>
            <a:off x="649727" y="1508760"/>
            <a:ext cx="10862065" cy="3794760"/>
          </a:xfrm>
          <a:prstGeom prst="rect">
            <a:avLst/>
          </a:prstGeom>
        </p:spPr>
      </p:pic>
      <p:sp>
        <p:nvSpPr>
          <p:cNvPr id="8" name="TextBox 7"/>
          <p:cNvSpPr txBox="1"/>
          <p:nvPr/>
        </p:nvSpPr>
        <p:spPr>
          <a:xfrm>
            <a:off x="731520" y="5532120"/>
            <a:ext cx="10698480" cy="640080"/>
          </a:xfrm>
          <a:prstGeom prst="rect">
            <a:avLst/>
          </a:prstGeom>
          <a:noFill/>
        </p:spPr>
        <p:txBody>
          <a:bodyPr wrap="square">
            <a:spAutoFit/>
          </a:bodyPr>
          <a:lstStyle/>
          <a:p>
            <a:pPr>
              <a:spcAft>
                <a:spcPts val="1200"/>
              </a:spcAft>
              <a:defRPr sz="1600" b="0">
                <a:solidFill>
                  <a:srgbClr val="607487"/>
                </a:solidFill>
                <a:latin typeface="Aptos"/>
              </a:defRPr>
            </a:pPr>
            <a:r>
              <a:t>c-TF-IDF requires existing classes: Model A first clusters TF-IDF/SVD vectors. Both paths then derive topic keywords with c-TF-IDF.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SEMANTIC PIPELINE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The BERT module: frozen encoder, not fine-tuning</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06</a:t>
            </a:r>
          </a:p>
        </p:txBody>
      </p:sp>
      <p:sp>
        <p:nvSpPr>
          <p:cNvPr id="7" name="TextBox 6"/>
          <p:cNvSpPr txBox="1"/>
          <p:nvPr/>
        </p:nvSpPr>
        <p:spPr>
          <a:xfrm>
            <a:off x="731520" y="1691640"/>
            <a:ext cx="10698480" cy="4480560"/>
          </a:xfrm>
          <a:prstGeom prst="rect">
            <a:avLst/>
          </a:prstGeom>
          <a:noFill/>
        </p:spPr>
        <p:txBody>
          <a:bodyPr wrap="square">
            <a:spAutoFit/>
          </a:bodyPr>
          <a:lstStyle/>
          <a:p>
            <a:pPr>
              <a:spcAft>
                <a:spcPts val="1200"/>
              </a:spcAft>
              <a:defRPr sz="2000" b="0">
                <a:solidFill>
                  <a:srgbClr val="18334A"/>
                </a:solidFill>
                <a:latin typeface="Aptos"/>
              </a:defRPr>
            </a:pPr>
            <a:r>
              <a:t>nlpaueb/legal-bert-base-uncased · pinned model revision</a:t>
            </a:r>
          </a:p>
          <a:p>
            <a:pPr>
              <a:spcAft>
                <a:spcPts val="1200"/>
              </a:spcAft>
              <a:defRPr sz="2000" b="0">
                <a:solidFill>
                  <a:srgbClr val="18334A"/>
                </a:solidFill>
                <a:latin typeface="Aptos"/>
              </a:defRPr>
            </a:pPr>
            <a:r>
              <a:t>Long sections → non-overlapping chunks, up to 512 tokens including special tokens.</a:t>
            </a:r>
          </a:p>
          <a:p>
            <a:pPr>
              <a:spcAft>
                <a:spcPts val="1200"/>
              </a:spcAft>
              <a:defRPr sz="2000" b="0">
                <a:solidFill>
                  <a:srgbClr val="18334A"/>
                </a:solidFill>
                <a:latin typeface="Aptos"/>
              </a:defRPr>
            </a:pPr>
            <a:r>
              <a:t>Token-weighted mean pooling excludes padding and special tokens.</a:t>
            </a:r>
          </a:p>
          <a:p>
            <a:pPr>
              <a:spcAft>
                <a:spcPts val="1200"/>
              </a:spcAft>
              <a:defRPr sz="2000" b="0">
                <a:solidFill>
                  <a:srgbClr val="18334A"/>
                </a:solidFill>
                <a:latin typeface="Aptos"/>
              </a:defRPr>
            </a:pPr>
            <a:r>
              <a:t>Aggregate all chunks → L2-normalized section embedding → UMAP → HDBSCAN.</a:t>
            </a:r>
          </a:p>
          <a:p>
            <a:pPr>
              <a:spcAft>
                <a:spcPts val="1200"/>
              </a:spcAft>
              <a:defRPr sz="2000" b="0">
                <a:solidFill>
                  <a:srgbClr val="18334A"/>
                </a:solidFill>
                <a:latin typeface="Aptos"/>
              </a:defRPr>
            </a:pPr>
            <a:r>
              <a:t>Embedding vectors retain section, ordinance and year associations.</a:t>
            </a:r>
          </a:p>
          <a:p>
            <a:pPr>
              <a:spcAft>
                <a:spcPts val="1200"/>
              </a:spcAft>
              <a:defRPr sz="2000" b="0">
                <a:solidFill>
                  <a:srgbClr val="18334A"/>
                </a:solidFill>
                <a:latin typeface="Aptos"/>
              </a:defRPr>
            </a:pPr>
          </a:p>
          <a:p>
            <a:pPr>
              <a:spcAft>
                <a:spcPts val="1200"/>
              </a:spcAft>
              <a:defRPr sz="2000" b="0">
                <a:solidFill>
                  <a:srgbClr val="18334A"/>
                </a:solidFill>
                <a:latin typeface="Aptos"/>
              </a:defRPr>
            </a:pPr>
            <a:r>
              <a:t>Legal pretraining is not proof of suitability for Philippine municipal law. No learning rate or training epochs apply: encoder weights are frozen.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PARAMETER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Recorded parameters—not hypothetical tuning</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07</a:t>
            </a:r>
          </a:p>
        </p:txBody>
      </p:sp>
      <p:pic>
        <p:nvPicPr>
          <p:cNvPr id="7" name="Picture 6" descr="tuning_parameters.png"/>
          <p:cNvPicPr>
            <a:picLocks noChangeAspect="1"/>
          </p:cNvPicPr>
          <p:nvPr/>
        </p:nvPicPr>
        <p:blipFill>
          <a:blip r:embed="rId2"/>
          <a:stretch>
            <a:fillRect/>
          </a:stretch>
        </p:blipFill>
        <p:spPr>
          <a:xfrm>
            <a:off x="640080" y="1622608"/>
            <a:ext cx="10881360" cy="3247022"/>
          </a:xfrm>
          <a:prstGeom prst="rect">
            <a:avLst/>
          </a:prstGeom>
        </p:spPr>
      </p:pic>
      <p:sp>
        <p:nvSpPr>
          <p:cNvPr id="8" name="TextBox 7"/>
          <p:cNvSpPr txBox="1"/>
          <p:nvPr/>
        </p:nvSpPr>
        <p:spPr>
          <a:xfrm>
            <a:off x="731520" y="5440680"/>
            <a:ext cx="10698480" cy="731520"/>
          </a:xfrm>
          <a:prstGeom prst="rect">
            <a:avLst/>
          </a:prstGeom>
          <a:noFill/>
        </p:spPr>
        <p:txBody>
          <a:bodyPr wrap="square">
            <a:spAutoFit/>
          </a:bodyPr>
          <a:lstStyle/>
          <a:p>
            <a:pPr>
              <a:spcAft>
                <a:spcPts val="1200"/>
              </a:spcAft>
              <a:defRPr sz="1700" b="0">
                <a:solidFill>
                  <a:srgbClr val="607487"/>
                </a:solidFill>
                <a:latin typeface="Aptos"/>
              </a:defRPr>
            </a:pPr>
            <a:r>
              <a:t>Pictures are rendered from the executed configuration. Sensitivity trials change several settings together; they do not isolate causal parameter effects.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INITIAL RESULTS</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Initial model comparison</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08</a:t>
            </a:r>
          </a:p>
        </p:txBody>
      </p:sp>
      <p:pic>
        <p:nvPicPr>
          <p:cNvPr id="7" name="Picture 6" descr="initial_metrics.png"/>
          <p:cNvPicPr>
            <a:picLocks noChangeAspect="1"/>
          </p:cNvPicPr>
          <p:nvPr/>
        </p:nvPicPr>
        <p:blipFill>
          <a:blip r:embed="rId3"/>
          <a:stretch>
            <a:fillRect/>
          </a:stretch>
        </p:blipFill>
        <p:spPr>
          <a:xfrm>
            <a:off x="640080" y="1609223"/>
            <a:ext cx="10881360" cy="423391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COMPARATIVE READING</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What the initial numbers suggest—not prove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09</a:t>
            </a:r>
          </a:p>
        </p:txBody>
      </p:sp>
      <p:sp>
        <p:nvSpPr>
          <p:cNvPr id="7" name="TextBox 6"/>
          <p:cNvSpPr txBox="1"/>
          <p:nvPr/>
        </p:nvSpPr>
        <p:spPr>
          <a:xfrm>
            <a:off x="731520" y="1645920"/>
            <a:ext cx="10698480" cy="4526280"/>
          </a:xfrm>
          <a:prstGeom prst="rect">
            <a:avLst/>
          </a:prstGeom>
          <a:noFill/>
        </p:spPr>
        <p:txBody>
          <a:bodyPr wrap="square">
            <a:spAutoFit/>
          </a:bodyPr>
          <a:lstStyle/>
          <a:p>
            <a:pPr>
              <a:spcAft>
                <a:spcPts val="1200"/>
              </a:spcAft>
              <a:defRPr sz="1900" b="0">
                <a:solidFill>
                  <a:srgbClr val="18334A"/>
                </a:solidFill>
                <a:latin typeface="Aptos"/>
              </a:defRPr>
            </a:pPr>
            <a:r>
              <a:t>Coherence: lexical 0.708 vs Legal-BERT 0.639.</a:t>
            </a:r>
          </a:p>
          <a:p>
            <a:pPr>
              <a:spcAft>
                <a:spcPts val="1200"/>
              </a:spcAft>
              <a:defRPr sz="1900" b="0">
                <a:solidFill>
                  <a:srgbClr val="18334A"/>
                </a:solidFill>
                <a:latin typeface="Aptos"/>
              </a:defRPr>
            </a:pPr>
            <a:r>
              <a:t>Keyword diversity: lexical 0.839 vs Legal-BERT 0.821.</a:t>
            </a:r>
          </a:p>
          <a:p>
            <a:pPr>
              <a:spcAft>
                <a:spcPts val="1200"/>
              </a:spcAft>
              <a:defRPr sz="1900" b="0">
                <a:solidFill>
                  <a:srgbClr val="18334A"/>
                </a:solidFill>
                <a:latin typeface="Aptos"/>
              </a:defRPr>
            </a:pPr>
            <a:r>
              <a:t>Assigned sections: lexical 95.5% vs Legal-BERT 96.5%.</a:t>
            </a:r>
          </a:p>
          <a:p>
            <a:pPr>
              <a:spcAft>
                <a:spcPts val="1200"/>
              </a:spcAft>
              <a:defRPr sz="1900" b="0">
                <a:solidFill>
                  <a:srgbClr val="18334A"/>
                </a:solidFill>
                <a:latin typeface="Aptos"/>
              </a:defRPr>
            </a:pPr>
            <a:r>
              <a:t>Seed stability: lexical 0.804 vs Legal-BERT 0.748.</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The largest topics contain formal wording such as city, ordinance and attested. Strong intrinsic metrics may reward repeated boilerplate rather than substantive policy themes. More coverage alone does not mean better legal topics.</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Treat this as a working baseline for corpus cleanup—not a verdict on either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PARAMETER SENSITIVITY</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Do results move when clustering settings change?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10</a:t>
            </a:r>
          </a:p>
        </p:txBody>
      </p:sp>
      <p:pic>
        <p:nvPicPr>
          <p:cNvPr id="7" name="Picture 6" descr="tuning_results.png"/>
          <p:cNvPicPr>
            <a:picLocks noChangeAspect="1"/>
          </p:cNvPicPr>
          <p:nvPr/>
        </p:nvPicPr>
        <p:blipFill>
          <a:blip r:embed="rId2"/>
          <a:stretch>
            <a:fillRect/>
          </a:stretch>
        </p:blipFill>
        <p:spPr>
          <a:xfrm>
            <a:off x="640080" y="1771800"/>
            <a:ext cx="10881360" cy="3451559"/>
          </a:xfrm>
          <a:prstGeom prst="rect">
            <a:avLst/>
          </a:prstGeom>
        </p:spPr>
      </p:pic>
      <p:sp>
        <p:nvSpPr>
          <p:cNvPr id="8" name="TextBox 7"/>
          <p:cNvSpPr txBox="1"/>
          <p:nvPr/>
        </p:nvSpPr>
        <p:spPr>
          <a:xfrm>
            <a:off x="731520" y="5596128"/>
            <a:ext cx="10698480" cy="548640"/>
          </a:xfrm>
          <a:prstGeom prst="rect">
            <a:avLst/>
          </a:prstGeom>
          <a:noFill/>
        </p:spPr>
        <p:txBody>
          <a:bodyPr wrap="square">
            <a:spAutoFit/>
          </a:bodyPr>
          <a:lstStyle/>
          <a:p>
            <a:pPr>
              <a:spcAft>
                <a:spcPts val="1200"/>
              </a:spcAft>
              <a:defRPr sz="1500" b="0">
                <a:solidFill>
                  <a:srgbClr val="607487"/>
                </a:solidFill>
                <a:latin typeface="Aptos"/>
              </a:defRPr>
            </a:pPr>
            <a:r>
              <a:t>Same input, vocabulary and frozen encoder. Cached BERT embeddings are reused after text-hash validation. Runtime for a cached trial is not an end-to-end speed comparison.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EXECUTION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A real Legal-BERT output snippet</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11</a:t>
            </a:r>
          </a:p>
        </p:txBody>
      </p:sp>
      <p:pic>
        <p:nvPicPr>
          <p:cNvPr id="7" name="Picture 6" descr="bert_output_snippet.png"/>
          <p:cNvPicPr>
            <a:picLocks noChangeAspect="1"/>
          </p:cNvPicPr>
          <p:nvPr/>
        </p:nvPicPr>
        <p:blipFill>
          <a:blip r:embed="rId2"/>
          <a:stretch>
            <a:fillRect/>
          </a:stretch>
        </p:blipFill>
        <p:spPr>
          <a:xfrm>
            <a:off x="640080" y="1732084"/>
            <a:ext cx="10881360" cy="398819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INTERPRETATION</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Representative output: retain source context</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12</a:t>
            </a:r>
          </a:p>
        </p:txBody>
      </p:sp>
      <p:sp>
        <p:nvSpPr>
          <p:cNvPr id="7" name="TextBox 6"/>
          <p:cNvSpPr txBox="1"/>
          <p:nvPr/>
        </p:nvSpPr>
        <p:spPr>
          <a:xfrm>
            <a:off x="731520" y="1645920"/>
            <a:ext cx="5074920" cy="4526280"/>
          </a:xfrm>
          <a:prstGeom prst="rect">
            <a:avLst/>
          </a:prstGeom>
          <a:noFill/>
        </p:spPr>
        <p:txBody>
          <a:bodyPr wrap="square">
            <a:spAutoFit/>
          </a:bodyPr>
          <a:lstStyle/>
          <a:p>
            <a:pPr>
              <a:spcAft>
                <a:spcPts val="1200"/>
              </a:spcAft>
              <a:defRPr sz="1600" b="0">
                <a:solidFill>
                  <a:srgbClr val="18334A"/>
                </a:solidFill>
                <a:latin typeface="Aptos"/>
              </a:defRPr>
            </a:pPr>
            <a:r>
              <a:t>Model A · Lexical</a:t>
            </a:r>
          </a:p>
          <a:p>
            <a:pPr>
              <a:spcAft>
                <a:spcPts val="1200"/>
              </a:spcAft>
              <a:defRPr sz="1600" b="0">
                <a:solidFill>
                  <a:srgbClr val="18334A"/>
                </a:solidFill>
                <a:latin typeface="Aptos"/>
              </a:defRPr>
            </a:pPr>
            <a:r>
              <a:t>T0: attested, secretary, city, correct, enacted</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0105-16 / section_4 / 2016</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EFFECTMTY- This Ordinance shall take effect immediately upon approval; ENACTED, on the 22nd day of November, by a unanimous vote of all the Members of the Sanggunian present. CERTIFIED CORRECT: "For and in the absence of the Secretary" LMER M. CABALI Acting Secretary the SANGGUNIANG Panlungsod (Superuising Administrative Officerl ATTESTED: DUTERTE P cn Mayor ! t Ord. No. 0105-16 LAr';;'*f A[j't'HIt SARA Z. </a:t>
            </a:r>
          </a:p>
        </p:txBody>
      </p:sp>
      <p:sp>
        <p:nvSpPr>
          <p:cNvPr id="8" name="TextBox 7"/>
          <p:cNvSpPr txBox="1"/>
          <p:nvPr/>
        </p:nvSpPr>
        <p:spPr>
          <a:xfrm>
            <a:off x="6400800" y="1645920"/>
            <a:ext cx="5074920" cy="4526280"/>
          </a:xfrm>
          <a:prstGeom prst="rect">
            <a:avLst/>
          </a:prstGeom>
          <a:noFill/>
        </p:spPr>
        <p:txBody>
          <a:bodyPr wrap="square">
            <a:spAutoFit/>
          </a:bodyPr>
          <a:lstStyle/>
          <a:p>
            <a:pPr>
              <a:spcAft>
                <a:spcPts val="1200"/>
              </a:spcAft>
              <a:defRPr sz="1600" b="0">
                <a:solidFill>
                  <a:srgbClr val="18334A"/>
                </a:solidFill>
                <a:latin typeface="Aptos"/>
              </a:defRPr>
            </a:pPr>
            <a:r>
              <a:t>Model B · Legal-BERT</a:t>
            </a:r>
          </a:p>
          <a:p>
            <a:pPr>
              <a:spcAft>
                <a:spcPts val="1200"/>
              </a:spcAft>
              <a:defRPr sz="1600" b="0">
                <a:solidFill>
                  <a:srgbClr val="18334A"/>
                </a:solidFill>
                <a:latin typeface="Aptos"/>
              </a:defRPr>
            </a:pPr>
            <a:r>
              <a:t>T0: davao, city, ordinance, sign, known</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0134-16 / section_1 / 2017</a:t>
            </a:r>
          </a:p>
          <a:p>
            <a:pPr>
              <a:spcAft>
                <a:spcPts val="1200"/>
              </a:spcAft>
              <a:defRPr sz="1600" b="0">
                <a:solidFill>
                  <a:srgbClr val="18334A"/>
                </a:solidFill>
                <a:latin typeface="Aptos"/>
              </a:defRPr>
            </a:pPr>
          </a:p>
          <a:p>
            <a:pPr>
              <a:spcAft>
                <a:spcPts val="1200"/>
              </a:spcAft>
              <a:defRPr sz="1600" b="0">
                <a:solidFill>
                  <a:srgbClr val="18334A"/>
                </a:solidFill>
                <a:latin typeface="Aptos"/>
              </a:defRPr>
            </a:pPr>
            <a:r>
              <a:t>EIE - This Ordinance shall be known as " AN ORDINANCE GRANTING AUTHORIW TO THE CITY MAYOR TO SIGN THE PERFORMANCE COMMITMENT FOR HCIs (REVISION 2) AND PROVIDER DATA RECORD HEALTH CARE INSTITUTION OF TORIL HEATTH CENTER BIRTHING HOME FOR ITS APPLICATION FOR PHILHEATTH ACCREDITATION FOR MATERNITY CARE."</a:t>
            </a:r>
          </a:p>
        </p:txBody>
      </p:sp>
      <p:sp>
        <p:nvSpPr>
          <p:cNvPr id="9" name="TextBox 8"/>
          <p:cNvSpPr txBox="1"/>
          <p:nvPr/>
        </p:nvSpPr>
        <p:spPr>
          <a:xfrm>
            <a:off x="731520" y="5897880"/>
            <a:ext cx="10698480" cy="411480"/>
          </a:xfrm>
          <a:prstGeom prst="rect">
            <a:avLst/>
          </a:prstGeom>
          <a:noFill/>
        </p:spPr>
        <p:txBody>
          <a:bodyPr wrap="square">
            <a:spAutoFit/>
          </a:bodyPr>
          <a:lstStyle/>
          <a:p>
            <a:pPr>
              <a:spcAft>
                <a:spcPts val="1200"/>
              </a:spcAft>
              <a:defRPr sz="1400" b="0">
                <a:solidFill>
                  <a:srgbClr val="607487"/>
                </a:solidFill>
                <a:latin typeface="Aptos"/>
              </a:defRPr>
            </a:pPr>
            <a:r>
              <a:t>Keywords are machine-generated, not expert-approved policy labels. OCR artifacts and legal boilerplate remain visible.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YEARLY COMPARISON</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How much of each year's sample gets a topic?</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13</a:t>
            </a:r>
          </a:p>
        </p:txBody>
      </p:sp>
      <p:pic>
        <p:nvPicPr>
          <p:cNvPr id="7" name="Picture 6" descr="yearly_coverage.png"/>
          <p:cNvPicPr>
            <a:picLocks noChangeAspect="1"/>
          </p:cNvPicPr>
          <p:nvPr/>
        </p:nvPicPr>
        <p:blipFill>
          <a:blip r:embed="rId2"/>
          <a:stretch>
            <a:fillRect/>
          </a:stretch>
        </p:blipFill>
        <p:spPr>
          <a:xfrm>
            <a:off x="640080" y="1659987"/>
            <a:ext cx="10881360" cy="3766624"/>
          </a:xfrm>
          <a:prstGeom prst="rect">
            <a:avLst/>
          </a:prstGeom>
        </p:spPr>
      </p:pic>
      <p:sp>
        <p:nvSpPr>
          <p:cNvPr id="8" name="TextBox 7"/>
          <p:cNvSpPr txBox="1"/>
          <p:nvPr/>
        </p:nvSpPr>
        <p:spPr>
          <a:xfrm>
            <a:off x="731520" y="5733288"/>
            <a:ext cx="10698480" cy="502920"/>
          </a:xfrm>
          <a:prstGeom prst="rect">
            <a:avLst/>
          </a:prstGeom>
          <a:noFill/>
        </p:spPr>
        <p:txBody>
          <a:bodyPr wrap="square">
            <a:spAutoFit/>
          </a:bodyPr>
          <a:lstStyle/>
          <a:p>
            <a:pPr>
              <a:spcAft>
                <a:spcPts val="1200"/>
              </a:spcAft>
              <a:defRPr sz="1500" b="0">
                <a:solidFill>
                  <a:srgbClr val="607487"/>
                </a:solidFill>
                <a:latin typeface="Aptos"/>
              </a:defRPr>
            </a:pPr>
            <a:r>
              <a:t>Denominator: all sampled sections in each year, including outliers. Balanced sampling does not estimate ordinance production or full-corpus topic prevalence.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TEMPORAL SNAPSHOT</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Model A · Lexical · topic shares across years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14</a:t>
            </a:r>
          </a:p>
        </p:txBody>
      </p:sp>
      <p:pic>
        <p:nvPicPr>
          <p:cNvPr id="7" name="Picture 6" descr="lexical_yearly_heatmap.png"/>
          <p:cNvPicPr>
            <a:picLocks noChangeAspect="1"/>
          </p:cNvPicPr>
          <p:nvPr/>
        </p:nvPicPr>
        <p:blipFill>
          <a:blip r:embed="rId2"/>
          <a:stretch>
            <a:fillRect/>
          </a:stretch>
        </p:blipFill>
        <p:spPr>
          <a:xfrm>
            <a:off x="672084" y="1508760"/>
            <a:ext cx="10817352" cy="4160520"/>
          </a:xfrm>
          <a:prstGeom prst="rect">
            <a:avLst/>
          </a:prstGeom>
        </p:spPr>
      </p:pic>
      <p:sp>
        <p:nvSpPr>
          <p:cNvPr id="8" name="TextBox 7"/>
          <p:cNvSpPr txBox="1"/>
          <p:nvPr/>
        </p:nvSpPr>
        <p:spPr>
          <a:xfrm>
            <a:off x="731520" y="5806440"/>
            <a:ext cx="10698480" cy="502920"/>
          </a:xfrm>
          <a:prstGeom prst="rect">
            <a:avLst/>
          </a:prstGeom>
          <a:noFill/>
        </p:spPr>
        <p:txBody>
          <a:bodyPr wrap="square">
            <a:spAutoFit/>
          </a:bodyPr>
          <a:lstStyle/>
          <a:p>
            <a:pPr>
              <a:spcAft>
                <a:spcPts val="1200"/>
              </a:spcAft>
              <a:defRPr sz="1400" b="0">
                <a:solidFill>
                  <a:srgbClr val="607487"/>
                </a:solidFill>
                <a:latin typeface="Aptos"/>
              </a:defRPr>
            </a:pPr>
            <a:r>
              <a:t>Top eight global topics only; omitted topics and outliers mean columns need not sum to 100%. These are sample-level patterns, not verified policy trends.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TEMPORAL SNAPSHOT</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Model B · Legal-BERT · topic shares across years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15</a:t>
            </a:r>
          </a:p>
        </p:txBody>
      </p:sp>
      <p:pic>
        <p:nvPicPr>
          <p:cNvPr id="7" name="Picture 6" descr="semantic_yearly_heatmap.png"/>
          <p:cNvPicPr>
            <a:picLocks noChangeAspect="1"/>
          </p:cNvPicPr>
          <p:nvPr/>
        </p:nvPicPr>
        <p:blipFill>
          <a:blip r:embed="rId2"/>
          <a:stretch>
            <a:fillRect/>
          </a:stretch>
        </p:blipFill>
        <p:spPr>
          <a:xfrm>
            <a:off x="672084" y="1508760"/>
            <a:ext cx="10817352" cy="4160520"/>
          </a:xfrm>
          <a:prstGeom prst="rect">
            <a:avLst/>
          </a:prstGeom>
        </p:spPr>
      </p:pic>
      <p:sp>
        <p:nvSpPr>
          <p:cNvPr id="8" name="TextBox 7"/>
          <p:cNvSpPr txBox="1"/>
          <p:nvPr/>
        </p:nvSpPr>
        <p:spPr>
          <a:xfrm>
            <a:off x="731520" y="5806440"/>
            <a:ext cx="10698480" cy="502920"/>
          </a:xfrm>
          <a:prstGeom prst="rect">
            <a:avLst/>
          </a:prstGeom>
          <a:noFill/>
        </p:spPr>
        <p:txBody>
          <a:bodyPr wrap="square">
            <a:spAutoFit/>
          </a:bodyPr>
          <a:lstStyle/>
          <a:p>
            <a:pPr>
              <a:spcAft>
                <a:spcPts val="1200"/>
              </a:spcAft>
              <a:defRPr sz="1400" b="0">
                <a:solidFill>
                  <a:srgbClr val="607487"/>
                </a:solidFill>
                <a:latin typeface="Aptos"/>
              </a:defRPr>
            </a:pPr>
            <a:r>
              <a:t>Top eight global topics only; omitted topics and outliers mean columns need not sum to 100%. These are sample-level patterns, not verified policy trends.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EVALUATION CONTRACT</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How to read the metrics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16</a:t>
            </a:r>
          </a:p>
        </p:txBody>
      </p:sp>
      <p:sp>
        <p:nvSpPr>
          <p:cNvPr id="7" name="TextBox 6"/>
          <p:cNvSpPr txBox="1"/>
          <p:nvPr/>
        </p:nvSpPr>
        <p:spPr>
          <a:xfrm>
            <a:off x="731520" y="1691640"/>
            <a:ext cx="10698480" cy="4480560"/>
          </a:xfrm>
          <a:prstGeom prst="rect">
            <a:avLst/>
          </a:prstGeom>
          <a:noFill/>
        </p:spPr>
        <p:txBody>
          <a:bodyPr wrap="square">
            <a:spAutoFit/>
          </a:bodyPr>
          <a:lstStyle/>
          <a:p>
            <a:pPr>
              <a:spcAft>
                <a:spcPts val="1200"/>
              </a:spcAft>
              <a:defRPr sz="2000" b="0">
                <a:solidFill>
                  <a:srgbClr val="18334A"/>
                </a:solidFill>
                <a:latin typeface="Aptos"/>
              </a:defRPr>
            </a:pPr>
            <a:r>
              <a:t>C_v: sliding-window coherence of top unigram keywords (Gensim; same input texts).</a:t>
            </a:r>
          </a:p>
          <a:p>
            <a:pPr>
              <a:spcAft>
                <a:spcPts val="1200"/>
              </a:spcAft>
              <a:defRPr sz="2000" b="0">
                <a:solidFill>
                  <a:srgbClr val="18334A"/>
                </a:solidFill>
                <a:latin typeface="Aptos"/>
              </a:defRPr>
            </a:pPr>
            <a:r>
              <a:t>Diversity: unique topic keywords / all retained top-keyword slots; excludes outliers.</a:t>
            </a:r>
          </a:p>
          <a:p>
            <a:pPr>
              <a:spcAft>
                <a:spcPts val="1200"/>
              </a:spcAft>
              <a:defRPr sz="2000" b="0">
                <a:solidFill>
                  <a:srgbClr val="18334A"/>
                </a:solidFill>
                <a:latin typeface="Aptos"/>
              </a:defRPr>
            </a:pPr>
            <a:r>
              <a:t>Coverage: assigned sections / all retained sections; outlier share is its complement.</a:t>
            </a:r>
          </a:p>
          <a:p>
            <a:pPr>
              <a:spcAft>
                <a:spcPts val="1200"/>
              </a:spcAft>
              <a:defRPr sz="2000" b="0">
                <a:solidFill>
                  <a:srgbClr val="18334A"/>
                </a:solidFill>
                <a:latin typeface="Aptos"/>
              </a:defRPr>
            </a:pPr>
            <a:r>
              <a:t>Stability: mean adjusted Rand index vs two additional UMAP seeds; outliers treated as one cluster.</a:t>
            </a:r>
          </a:p>
          <a:p>
            <a:pPr>
              <a:spcAft>
                <a:spcPts val="1200"/>
              </a:spcAft>
              <a:defRPr sz="2000" b="0">
                <a:solidFill>
                  <a:srgbClr val="18334A"/>
                </a:solidFill>
                <a:latin typeface="Aptos"/>
              </a:defRPr>
            </a:pPr>
          </a:p>
          <a:p>
            <a:pPr>
              <a:spcAft>
                <a:spcPts val="1200"/>
              </a:spcAft>
              <a:defRPr sz="2000" b="0">
                <a:solidFill>
                  <a:srgbClr val="18334A"/>
                </a:solidFill>
                <a:latin typeface="Aptos"/>
              </a:defRPr>
            </a:pPr>
            <a:r>
              <a:t>All scores are intrinsic and in-sample. Accuracy/F1 need reference labels. BERTopic has no directly comparable probabilistic perplexity. Expert validation is still pending.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NEXT MILESTONE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Before these can become thesis findings</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17</a:t>
            </a:r>
          </a:p>
        </p:txBody>
      </p:sp>
      <p:sp>
        <p:nvSpPr>
          <p:cNvPr id="7" name="TextBox 6"/>
          <p:cNvSpPr txBox="1"/>
          <p:nvPr/>
        </p:nvSpPr>
        <p:spPr>
          <a:xfrm>
            <a:off x="731520" y="1691640"/>
            <a:ext cx="10698480" cy="4480560"/>
          </a:xfrm>
          <a:prstGeom prst="rect">
            <a:avLst/>
          </a:prstGeom>
          <a:noFill/>
        </p:spPr>
        <p:txBody>
          <a:bodyPr wrap="square">
            <a:spAutoFit/>
          </a:bodyPr>
          <a:lstStyle/>
          <a:p>
            <a:pPr>
              <a:spcAft>
                <a:spcPts val="1200"/>
              </a:spcAft>
              <a:defRPr sz="2000" b="0">
                <a:solidFill>
                  <a:srgbClr val="18334A"/>
                </a:solidFill>
                <a:latin typeface="Aptos"/>
              </a:defRPr>
            </a:pPr>
            <a:r>
              <a:t>1  Verify OCR, section boundaries, dates and provenance against the PDFs.</a:t>
            </a:r>
          </a:p>
          <a:p>
            <a:pPr>
              <a:spcAft>
                <a:spcPts val="1200"/>
              </a:spcAft>
              <a:defRPr sz="2000" b="0">
                <a:solidFill>
                  <a:srgbClr val="18334A"/>
                </a:solidFill>
                <a:latin typeface="Aptos"/>
              </a:defRPr>
            </a:pPr>
            <a:r>
              <a:t>2  Review boilerplate, unusually long sections and repeated texts.</a:t>
            </a:r>
          </a:p>
          <a:p>
            <a:pPr>
              <a:spcAft>
                <a:spcPts val="1200"/>
              </a:spcAft>
              <a:defRPr sz="2000" b="0">
                <a:solidFill>
                  <a:srgbClr val="18334A"/>
                </a:solidFill>
                <a:latin typeface="Aptos"/>
              </a:defRPr>
            </a:pPr>
            <a:r>
              <a:t>3  Freeze a verified corpus; rerun both paths on identical inclusion rules.</a:t>
            </a:r>
          </a:p>
          <a:p>
            <a:pPr>
              <a:spcAft>
                <a:spcPts val="1200"/>
              </a:spcAft>
              <a:defRPr sz="2000" b="0">
                <a:solidFill>
                  <a:srgbClr val="18334A"/>
                </a:solidFill>
                <a:latin typeface="Aptos"/>
              </a:defRPr>
            </a:pPr>
            <a:r>
              <a:t>4  Use ordinance-grouped development / held-out evaluation before final selection.</a:t>
            </a:r>
          </a:p>
          <a:p>
            <a:pPr>
              <a:spcAft>
                <a:spcPts val="1200"/>
              </a:spcAft>
              <a:defRPr sz="2000" b="0">
                <a:solidFill>
                  <a:srgbClr val="18334A"/>
                </a:solidFill>
                <a:latin typeface="Aptos"/>
              </a:defRPr>
            </a:pPr>
            <a:r>
              <a:t>5  Expert panel: legal coherence, relevance, label appropriateness, temporal interpretation, overall quality (1–5 / N/A).</a:t>
            </a:r>
          </a:p>
          <a:p>
            <a:pPr>
              <a:spcAft>
                <a:spcPts val="1200"/>
              </a:spcAft>
              <a:defRPr sz="2000" b="0">
                <a:solidFill>
                  <a:srgbClr val="18334A"/>
                </a:solidFill>
                <a:latin typeface="Aptos"/>
              </a:defRPr>
            </a:pPr>
            <a:r>
              <a:t>6  Review any expert dimension below 3.00; regenerate the presentation from new evidence.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2016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18</a:t>
            </a:r>
          </a:p>
        </p:txBody>
      </p:sp>
      <p:pic>
        <p:nvPicPr>
          <p:cNvPr id="7" name="Picture 6" descr="year_2016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2017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19</a:t>
            </a:r>
          </a:p>
        </p:txBody>
      </p:sp>
      <p:pic>
        <p:nvPicPr>
          <p:cNvPr id="7" name="Picture 6" descr="year_2017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2018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20</a:t>
            </a:r>
          </a:p>
        </p:txBody>
      </p:sp>
      <p:pic>
        <p:nvPicPr>
          <p:cNvPr id="7" name="Picture 6" descr="year_2018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2019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21</a:t>
            </a:r>
          </a:p>
        </p:txBody>
      </p:sp>
      <p:pic>
        <p:nvPicPr>
          <p:cNvPr id="7" name="Picture 6" descr="year_2019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2020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22</a:t>
            </a:r>
          </a:p>
        </p:txBody>
      </p:sp>
      <p:pic>
        <p:nvPicPr>
          <p:cNvPr id="7" name="Picture 6" descr="year_2020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2021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23</a:t>
            </a:r>
          </a:p>
        </p:txBody>
      </p:sp>
      <p:pic>
        <p:nvPicPr>
          <p:cNvPr id="7" name="Picture 6" descr="year_2021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2022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24</a:t>
            </a:r>
          </a:p>
        </p:txBody>
      </p:sp>
      <p:pic>
        <p:nvPicPr>
          <p:cNvPr id="7" name="Picture 6" descr="year_2022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2023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25</a:t>
            </a:r>
          </a:p>
        </p:txBody>
      </p:sp>
      <p:pic>
        <p:nvPicPr>
          <p:cNvPr id="7" name="Picture 6" descr="year_2023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2024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26</a:t>
            </a:r>
          </a:p>
        </p:txBody>
      </p:sp>
      <p:pic>
        <p:nvPicPr>
          <p:cNvPr id="7" name="Picture 6" descr="year_2024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YEAR-BY-YEAR EVIDENCE</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2025 · both models, side by side</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27</a:t>
            </a:r>
          </a:p>
        </p:txBody>
      </p:sp>
      <p:pic>
        <p:nvPicPr>
          <p:cNvPr id="7" name="Picture 6" descr="year_2025_comparison.png"/>
          <p:cNvPicPr>
            <a:picLocks noChangeAspect="1"/>
          </p:cNvPicPr>
          <p:nvPr/>
        </p:nvPicPr>
        <p:blipFill>
          <a:blip r:embed="rId2"/>
          <a:stretch>
            <a:fillRect/>
          </a:stretch>
        </p:blipFill>
        <p:spPr>
          <a:xfrm>
            <a:off x="640080" y="1643633"/>
            <a:ext cx="10881360" cy="4119372"/>
          </a:xfrm>
          <a:prstGeom prst="rect">
            <a:avLst/>
          </a:prstGeom>
        </p:spPr>
      </p:pic>
      <p:sp>
        <p:nvSpPr>
          <p:cNvPr id="8" name="TextBox 7"/>
          <p:cNvSpPr txBox="1"/>
          <p:nvPr/>
        </p:nvSpPr>
        <p:spPr>
          <a:xfrm>
            <a:off x="731520" y="5870448"/>
            <a:ext cx="10698480" cy="457200"/>
          </a:xfrm>
          <a:prstGeom prst="rect">
            <a:avLst/>
          </a:prstGeom>
          <a:noFill/>
        </p:spPr>
        <p:txBody>
          <a:bodyPr wrap="square">
            <a:spAutoFit/>
          </a:bodyPr>
          <a:lstStyle/>
          <a:p>
            <a:pPr>
              <a:spcAft>
                <a:spcPts val="1200"/>
              </a:spcAft>
              <a:defRPr sz="1400" b="0">
                <a:solidFill>
                  <a:srgbClr val="607487"/>
                </a:solidFill>
                <a:latin typeface="Aptos"/>
              </a:defRPr>
            </a:pPr>
            <a:r>
              <a:t>Topic numbers are local to each model: A/T0 is not B/T0. Bars show the top three topics, other assigned topics and outliers within this year's sample.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19456"/>
            <a:ext cx="10972800" cy="320040"/>
          </a:xfrm>
          <a:prstGeom prst="rect">
            <a:avLst/>
          </a:prstGeom>
          <a:noFill/>
        </p:spPr>
        <p:txBody>
          <a:bodyPr wrap="square">
            <a:spAutoFit/>
          </a:bodyPr>
          <a:lstStyle/>
          <a:p>
            <a:pPr>
              <a:spcAft>
                <a:spcPts val="1200"/>
              </a:spcAft>
              <a:defRPr sz="1100" b="1">
                <a:solidFill>
                  <a:srgbClr val="087F8C"/>
                </a:solidFill>
                <a:latin typeface="Aptos"/>
              </a:defRPr>
            </a:pPr>
            <a:r>
              <a:t>REFERENCE APPENDIX</a:t>
            </a:r>
          </a:p>
        </p:txBody>
      </p:sp>
      <p:sp>
        <p:nvSpPr>
          <p:cNvPr id="3" name="TextBox 2"/>
          <p:cNvSpPr txBox="1"/>
          <p:nvPr/>
        </p:nvSpPr>
        <p:spPr>
          <a:xfrm>
            <a:off x="594360" y="685800"/>
            <a:ext cx="11064240" cy="685800"/>
          </a:xfrm>
          <a:prstGeom prst="rect">
            <a:avLst/>
          </a:prstGeom>
          <a:noFill/>
        </p:spPr>
        <p:txBody>
          <a:bodyPr wrap="square">
            <a:spAutoFit/>
          </a:bodyPr>
          <a:lstStyle/>
          <a:p>
            <a:pPr>
              <a:spcAft>
                <a:spcPts val="1200"/>
              </a:spcAft>
              <a:defRPr sz="3000" b="1">
                <a:solidFill>
                  <a:srgbClr val="18334A"/>
                </a:solidFill>
                <a:latin typeface="Aptos"/>
              </a:defRPr>
            </a:pPr>
            <a:r>
              <a:t>Original supplied process diagram</a:t>
            </a:r>
          </a:p>
        </p:txBody>
      </p:sp>
      <p:sp>
        <p:nvSpPr>
          <p:cNvPr id="4" name="Rectangle 3"/>
          <p:cNvSpPr/>
          <p:nvPr/>
        </p:nvSpPr>
        <p:spPr>
          <a:xfrm>
            <a:off x="640080" y="1353312"/>
            <a:ext cx="685800" cy="411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28232"/>
            <a:ext cx="10789920" cy="210312"/>
          </a:xfrm>
          <a:prstGeom prst="rect">
            <a:avLst/>
          </a:prstGeom>
          <a:noFill/>
        </p:spPr>
        <p:txBody>
          <a:bodyPr wrap="square">
            <a:spAutoFit/>
          </a:bodyPr>
          <a:lstStyle/>
          <a:p>
            <a:pPr>
              <a:spcAft>
                <a:spcPts val="1200"/>
              </a:spcAft>
              <a:defRPr sz="900" b="0">
                <a:solidFill>
                  <a:srgbClr val="607487"/>
                </a:solidFill>
                <a:latin typeface="Aptos"/>
              </a:defRPr>
            </a:pPr>
            <a:r>
              <a:t>CORPUZ · LAMSIN · NURIL    /    EXPLORATORY PILOT — NOT VALIDATED THESIS FINDINGS</a:t>
            </a:r>
          </a:p>
        </p:txBody>
      </p:sp>
      <p:sp>
        <p:nvSpPr>
          <p:cNvPr id="6" name="TextBox 5"/>
          <p:cNvSpPr txBox="1"/>
          <p:nvPr/>
        </p:nvSpPr>
        <p:spPr>
          <a:xfrm>
            <a:off x="11109960" y="6400800"/>
            <a:ext cx="502920" cy="274320"/>
          </a:xfrm>
          <a:prstGeom prst="rect">
            <a:avLst/>
          </a:prstGeom>
          <a:noFill/>
        </p:spPr>
        <p:txBody>
          <a:bodyPr wrap="square">
            <a:spAutoFit/>
          </a:bodyPr>
          <a:lstStyle/>
          <a:p>
            <a:pPr>
              <a:spcAft>
                <a:spcPts val="1200"/>
              </a:spcAft>
              <a:defRPr sz="1000" b="0">
                <a:solidFill>
                  <a:srgbClr val="607487"/>
                </a:solidFill>
                <a:latin typeface="Aptos"/>
              </a:defRPr>
            </a:pPr>
            <a:r>
              <a:t>28</a:t>
            </a:r>
          </a:p>
        </p:txBody>
      </p:sp>
      <p:pic>
        <p:nvPicPr>
          <p:cNvPr id="7" name="Picture 6" descr="reference_diagram.png"/>
          <p:cNvPicPr>
            <a:picLocks noChangeAspect="1"/>
          </p:cNvPicPr>
          <p:nvPr/>
        </p:nvPicPr>
        <p:blipFill>
          <a:blip r:embed="rId2"/>
          <a:stretch>
            <a:fillRect/>
          </a:stretch>
        </p:blipFill>
        <p:spPr>
          <a:xfrm>
            <a:off x="1964374" y="1508760"/>
            <a:ext cx="2106290" cy="4663440"/>
          </a:xfrm>
          <a:prstGeom prst="rect">
            <a:avLst/>
          </a:prstGeom>
        </p:spPr>
      </p:pic>
      <p:sp>
        <p:nvSpPr>
          <p:cNvPr id="8" name="TextBox 7"/>
          <p:cNvSpPr txBox="1"/>
          <p:nvPr/>
        </p:nvSpPr>
        <p:spPr>
          <a:xfrm>
            <a:off x="6126480" y="1737360"/>
            <a:ext cx="5303520" cy="4480560"/>
          </a:xfrm>
          <a:prstGeom prst="rect">
            <a:avLst/>
          </a:prstGeom>
          <a:noFill/>
        </p:spPr>
        <p:txBody>
          <a:bodyPr wrap="square">
            <a:spAutoFit/>
          </a:bodyPr>
          <a:lstStyle/>
          <a:p>
            <a:pPr>
              <a:spcAft>
                <a:spcPts val="1200"/>
              </a:spcAft>
              <a:defRPr sz="1900" b="0">
                <a:solidFill>
                  <a:srgbClr val="18334A"/>
                </a:solidFill>
                <a:latin typeface="Aptos"/>
              </a:defRPr>
            </a:pPr>
            <a:r>
              <a:t>Source: Downloads/diagram.png</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Implementation clarification:</a:t>
            </a:r>
          </a:p>
          <a:p>
            <a:pPr>
              <a:spcAft>
                <a:spcPts val="1200"/>
              </a:spcAft>
              <a:defRPr sz="1900" b="0">
                <a:solidFill>
                  <a:srgbClr val="18334A"/>
                </a:solidFill>
                <a:latin typeface="Aptos"/>
              </a:defRPr>
            </a:pPr>
            <a:r>
              <a:t>c-TF-IDF needs class assignments. The lexical path therefore uses TF-IDF/SVD before clustering, then c-TF-IDF for topic representation.</a:t>
            </a:r>
          </a:p>
          <a:p>
            <a:pPr>
              <a:spcAft>
                <a:spcPts val="1200"/>
              </a:spcAft>
              <a:defRPr sz="1900" b="0">
                <a:solidFill>
                  <a:srgbClr val="18334A"/>
                </a:solidFill>
                <a:latin typeface="Aptos"/>
              </a:defRPr>
            </a:pPr>
          </a:p>
          <a:p>
            <a:pPr>
              <a:spcAft>
                <a:spcPts val="1200"/>
              </a:spcAft>
              <a:defRPr sz="1900" b="0">
                <a:solidFill>
                  <a:srgbClr val="18334A"/>
                </a:solidFill>
                <a:latin typeface="Aptos"/>
              </a:defRPr>
            </a:pPr>
            <a:r>
              <a:t>The current deliverable is an exploratory modeling and reporting pipeline—not a completed expert-validated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