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43A"/>
        </a:solidFill>
        <a:effectLst/>
      </p:bgPr>
    </p:bg>
    <p:spTree>
      <p:nvGrpSpPr>
        <p:cNvPr id="1" name=""/>
        <p:cNvGrpSpPr/>
        <p:nvPr/>
      </p:nvGrpSpPr>
      <p:grpSpPr/>
      <p:sp>
        <p:nvSpPr>
          <p:cNvPr id="2" name="TextBox 1"/>
          <p:cNvSpPr txBox="1"/>
          <p:nvPr/>
        </p:nvSpPr>
        <p:spPr>
          <a:xfrm>
            <a:off x="777240" y="731520"/>
            <a:ext cx="10515600" cy="457200"/>
          </a:xfrm>
          <a:prstGeom prst="rect">
            <a:avLst/>
          </a:prstGeom>
          <a:noFill/>
        </p:spPr>
        <p:txBody>
          <a:bodyPr wrap="square">
            <a:spAutoFit/>
          </a:bodyPr>
          <a:lstStyle/>
          <a:p>
            <a:pPr>
              <a:spcAft>
                <a:spcPts val="1200"/>
              </a:spcAft>
              <a:defRPr sz="1500" b="1">
                <a:solidFill>
                  <a:srgbClr val="63D5D0"/>
                </a:solidFill>
                <a:latin typeface="Aptos"/>
              </a:defRPr>
            </a:pPr>
            <a:r>
              <a:t>DAVAO CITY MUNICIPAL ORDINANCES</a:t>
            </a:r>
          </a:p>
        </p:txBody>
      </p:sp>
      <p:sp>
        <p:nvSpPr>
          <p:cNvPr id="3" name="TextBox 2"/>
          <p:cNvSpPr txBox="1"/>
          <p:nvPr/>
        </p:nvSpPr>
        <p:spPr>
          <a:xfrm>
            <a:off x="777240" y="1645920"/>
            <a:ext cx="10607040" cy="1828800"/>
          </a:xfrm>
          <a:prstGeom prst="rect">
            <a:avLst/>
          </a:prstGeom>
          <a:noFill/>
        </p:spPr>
        <p:txBody>
          <a:bodyPr wrap="square">
            <a:spAutoFit/>
          </a:bodyPr>
          <a:lstStyle/>
          <a:p>
            <a:pPr>
              <a:spcAft>
                <a:spcPts val="1200"/>
              </a:spcAft>
              <a:defRPr sz="3900" b="1">
                <a:solidFill>
                  <a:srgbClr val="FFFFFF"/>
                </a:solidFill>
                <a:latin typeface="Aptos"/>
              </a:defRPr>
            </a:pPr>
            <a:r>
              <a:t>Clean text. Full corpus.</a:t>
            </a:r>
          </a:p>
          <a:p>
            <a:pPr>
              <a:spcAft>
                <a:spcPts val="1200"/>
              </a:spcAft>
              <a:defRPr sz="3900" b="1">
                <a:solidFill>
                  <a:srgbClr val="FFFFFF"/>
                </a:solidFill>
                <a:latin typeface="Aptos"/>
              </a:defRPr>
            </a:pPr>
            <a:r>
              <a:t>Two comparable model paths.</a:t>
            </a:r>
          </a:p>
        </p:txBody>
      </p:sp>
      <p:sp>
        <p:nvSpPr>
          <p:cNvPr id="4" name="TextBox 3"/>
          <p:cNvSpPr txBox="1"/>
          <p:nvPr/>
        </p:nvSpPr>
        <p:spPr>
          <a:xfrm>
            <a:off x="777240" y="3749039"/>
            <a:ext cx="10515600" cy="594360"/>
          </a:xfrm>
          <a:prstGeom prst="rect">
            <a:avLst/>
          </a:prstGeom>
          <a:noFill/>
        </p:spPr>
        <p:txBody>
          <a:bodyPr wrap="square">
            <a:spAutoFit/>
          </a:bodyPr>
          <a:lstStyle/>
          <a:p>
            <a:pPr>
              <a:spcAft>
                <a:spcPts val="1200"/>
              </a:spcAft>
              <a:defRPr sz="2100" b="0">
                <a:solidFill>
                  <a:srgbClr val="DBE8F2"/>
                </a:solidFill>
                <a:latin typeface="Aptos"/>
              </a:defRPr>
            </a:pPr>
            <a:r>
              <a:t>Lexical TF-IDF + c-TF-IDF  vs  Legal-BERT + BERTopic</a:t>
            </a:r>
          </a:p>
        </p:txBody>
      </p:sp>
      <p:sp>
        <p:nvSpPr>
          <p:cNvPr id="5" name="TextBox 4"/>
          <p:cNvSpPr txBox="1"/>
          <p:nvPr/>
        </p:nvSpPr>
        <p:spPr>
          <a:xfrm>
            <a:off x="777240" y="4754880"/>
            <a:ext cx="10515600" cy="914400"/>
          </a:xfrm>
          <a:prstGeom prst="rect">
            <a:avLst/>
          </a:prstGeom>
          <a:noFill/>
        </p:spPr>
        <p:txBody>
          <a:bodyPr wrap="square">
            <a:spAutoFit/>
          </a:bodyPr>
          <a:lstStyle/>
          <a:p>
            <a:pPr>
              <a:spcAft>
                <a:spcPts val="1200"/>
              </a:spcAft>
              <a:defRPr sz="1900" b="0">
                <a:solidFill>
                  <a:srgbClr val="DBE8F2"/>
                </a:solidFill>
                <a:latin typeface="Aptos"/>
              </a:defRPr>
            </a:pPr>
            <a:r>
              <a:t>2,118 source documents · 7,832 modeled units</a:t>
            </a:r>
          </a:p>
          <a:p>
            <a:pPr>
              <a:spcAft>
                <a:spcPts val="1200"/>
              </a:spcAft>
              <a:defRPr sz="1900" b="0">
                <a:solidFill>
                  <a:srgbClr val="DBE8F2"/>
                </a:solidFill>
                <a:latin typeface="Aptos"/>
              </a:defRPr>
            </a:pPr>
            <a:r>
              <a:t>2016–2025 · Corpuz · Lamsin · Nuril</a:t>
            </a:r>
          </a:p>
        </p:txBody>
      </p:sp>
      <p:sp>
        <p:nvSpPr>
          <p:cNvPr id="6" name="TextBox 5"/>
          <p:cNvSpPr txBox="1"/>
          <p:nvPr/>
        </p:nvSpPr>
        <p:spPr>
          <a:xfrm>
            <a:off x="777240" y="6309360"/>
            <a:ext cx="10515600" cy="274320"/>
          </a:xfrm>
          <a:prstGeom prst="rect">
            <a:avLst/>
          </a:prstGeom>
          <a:noFill/>
        </p:spPr>
        <p:txBody>
          <a:bodyPr wrap="square">
            <a:spAutoFit/>
          </a:bodyPr>
          <a:lstStyle/>
          <a:p>
            <a:pPr>
              <a:spcAft>
                <a:spcPts val="1200"/>
              </a:spcAft>
              <a:defRPr sz="1100" b="1">
                <a:solidFill>
                  <a:srgbClr val="F9BF88"/>
                </a:solidFill>
                <a:latin typeface="Aptos"/>
              </a:defRPr>
            </a:pPr>
            <a:r>
              <a:t>USER-VERIFIED TXT SOURCE / AUDITED PREPARATION / EXPERT MODEL VALIDATION PENDING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IMPROVEMENTS</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What changed in this rerun</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CLEAN-TEXT FULL-CORPUS RUN · INITIAL INTRINSIC RESULTS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02</a:t>
            </a:r>
          </a:p>
        </p:txBody>
      </p:sp>
      <p:sp>
        <p:nvSpPr>
          <p:cNvPr id="7" name="TextBox 6"/>
          <p:cNvSpPr txBox="1"/>
          <p:nvPr/>
        </p:nvSpPr>
        <p:spPr>
          <a:xfrm>
            <a:off x="731520" y="1691640"/>
            <a:ext cx="10698480" cy="4526280"/>
          </a:xfrm>
          <a:prstGeom prst="rect">
            <a:avLst/>
          </a:prstGeom>
          <a:noFill/>
        </p:spPr>
        <p:txBody>
          <a:bodyPr wrap="square">
            <a:spAutoFit/>
          </a:bodyPr>
          <a:lstStyle/>
          <a:p>
            <a:pPr>
              <a:spcAft>
                <a:spcPts val="1200"/>
              </a:spcAft>
              <a:defRPr sz="1900" b="0">
                <a:solidFill>
                  <a:srgbClr val="18334A"/>
                </a:solidFill>
                <a:latin typeface="Aptos"/>
              </a:defRPr>
            </a:pPr>
            <a:r>
              <a:t>Only data/processed/clean_text/*.txt supplies model text.</a:t>
            </a:r>
          </a:p>
          <a:p>
            <a:pPr>
              <a:spcAft>
                <a:spcPts val="1200"/>
              </a:spcAft>
              <a:defRPr sz="1900" b="0">
                <a:solidFill>
                  <a:srgbClr val="18334A"/>
                </a:solidFill>
                <a:latin typeface="Aptos"/>
              </a:defRPr>
            </a:pPr>
            <a:r>
              <a:t>The full eligible corpus replaces the previous 200-unit sample.</a:t>
            </a:r>
          </a:p>
          <a:p>
            <a:pPr>
              <a:spcAft>
                <a:spcPts val="1200"/>
              </a:spcAft>
              <a:defRPr sz="1900" b="0">
                <a:solidFill>
                  <a:srgbClr val="18334A"/>
                </a:solidFill>
                <a:latin typeface="Aptos"/>
              </a:defRPr>
            </a:pPr>
            <a:r>
              <a:t>Content hashes remove duplicate copies without deleting sources.</a:t>
            </a:r>
          </a:p>
          <a:p>
            <a:pPr>
              <a:spcAft>
                <a:spcPts val="1200"/>
              </a:spcAft>
              <a:defRPr sz="1900" b="0">
                <a:solidFill>
                  <a:srgbClr val="18334A"/>
                </a:solidFill>
                <a:latin typeface="Aptos"/>
              </a:defRPr>
            </a:pPr>
            <a:r>
              <a:t>Human year overrides take priority; every decision is auditable.</a:t>
            </a:r>
          </a:p>
          <a:p>
            <a:pPr>
              <a:spcAft>
                <a:spcPts val="1200"/>
              </a:spcAft>
              <a:defRPr sz="1900" b="0">
                <a:solidFill>
                  <a:srgbClr val="18334A"/>
                </a:solidFill>
                <a:latin typeface="Aptos"/>
              </a:defRPr>
            </a:pPr>
            <a:r>
              <a:t>Specified boilerplate sections and signature blocks are excluded.</a:t>
            </a:r>
          </a:p>
          <a:p>
            <a:pPr>
              <a:spcAft>
                <a:spcPts val="1200"/>
              </a:spcAft>
              <a:defRPr sz="1900" b="0">
                <a:solidFill>
                  <a:srgbClr val="18334A"/>
                </a:solidFill>
                <a:latin typeface="Aptos"/>
              </a:defRPr>
            </a:pPr>
            <a:r>
              <a:t>GPU batching and checkpointed embeddings support reproducible full runs.</a:t>
            </a:r>
          </a:p>
          <a:p>
            <a:pPr>
              <a:spcAft>
                <a:spcPts val="1200"/>
              </a:spcAft>
              <a:defRPr sz="1900" b="0">
                <a:solidFill>
                  <a:srgbClr val="18334A"/>
                </a:solidFill>
                <a:latin typeface="Aptos"/>
              </a:defRPr>
            </a:pPr>
            <a:r>
              <a:t>Both models use identical units, years, vocabulary and evaluation inputs.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DATA ACCOUNTING</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Exactly which data reached the models?</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CLEAN-TEXT FULL-CORPUS RUN · INITIAL INTRINSIC RESULTS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03</a:t>
            </a:r>
          </a:p>
        </p:txBody>
      </p:sp>
      <p:sp>
        <p:nvSpPr>
          <p:cNvPr id="7" name="TextBox 6"/>
          <p:cNvSpPr txBox="1"/>
          <p:nvPr/>
        </p:nvSpPr>
        <p:spPr>
          <a:xfrm>
            <a:off x="731520" y="1691640"/>
            <a:ext cx="10698480" cy="4526280"/>
          </a:xfrm>
          <a:prstGeom prst="rect">
            <a:avLst/>
          </a:prstGeom>
          <a:noFill/>
        </p:spPr>
        <p:txBody>
          <a:bodyPr wrap="square">
            <a:spAutoFit/>
          </a:bodyPr>
          <a:lstStyle/>
          <a:p>
            <a:pPr>
              <a:spcAft>
                <a:spcPts val="1200"/>
              </a:spcAft>
              <a:defRPr sz="1900" b="0">
                <a:solidFill>
                  <a:srgbClr val="18334A"/>
                </a:solidFill>
                <a:latin typeface="Aptos"/>
              </a:defRPr>
            </a:pPr>
            <a:r>
              <a:t>Input: 2,283 TXT files → 2,133 distinct contents.</a:t>
            </a:r>
          </a:p>
          <a:p>
            <a:pPr>
              <a:spcAft>
                <a:spcPts val="1200"/>
              </a:spcAft>
              <a:defRPr sz="1900" b="0">
                <a:solidFill>
                  <a:srgbClr val="18334A"/>
                </a:solidFill>
                <a:latin typeface="Aptos"/>
              </a:defRPr>
            </a:pPr>
            <a:r>
              <a:t>150 duplicate copies removed from modeling, not from disk.</a:t>
            </a:r>
          </a:p>
          <a:p>
            <a:pPr>
              <a:spcAft>
                <a:spcPts val="1200"/>
              </a:spcAft>
              <a:defRPr sz="1900" b="0">
                <a:solidFill>
                  <a:srgbClr val="18334A"/>
                </a:solidFill>
                <a:latin typeface="Aptos"/>
              </a:defRPr>
            </a:pPr>
            <a:r>
              <a:t>13 content groups excluded by existing human out-of-scope year corrections.</a:t>
            </a:r>
          </a:p>
          <a:p>
            <a:pPr>
              <a:spcAft>
                <a:spcPts val="1200"/>
              </a:spcAft>
              <a:defRPr sz="1900" b="0">
                <a:solidFill>
                  <a:srgbClr val="18334A"/>
                </a:solidFill>
                <a:latin typeface="Aptos"/>
              </a:defRPr>
            </a:pPr>
            <a:r>
              <a:t>2 content groups had no usable text after deterministic extraction.</a:t>
            </a:r>
          </a:p>
          <a:p>
            <a:pPr>
              <a:spcAft>
                <a:spcPts val="1200"/>
              </a:spcAft>
              <a:defRPr sz="1900" b="0">
                <a:solidFill>
                  <a:srgbClr val="18334A"/>
                </a:solidFill>
                <a:latin typeface="Aptos"/>
              </a:defRPr>
            </a:pPr>
          </a:p>
          <a:p>
            <a:pPr>
              <a:spcAft>
                <a:spcPts val="1200"/>
              </a:spcAft>
              <a:defRPr sz="1900" b="0">
                <a:solidFill>
                  <a:srgbClr val="18334A"/>
                </a:solidFill>
                <a:latin typeface="Aptos"/>
              </a:defRPr>
            </a:pPr>
            <a:r>
              <a:t>Modeled: 2,118 source documents / 2,073 distinct normalized ordinance numbers.</a:t>
            </a:r>
          </a:p>
          <a:p>
            <a:pPr>
              <a:spcAft>
                <a:spcPts val="1200"/>
              </a:spcAft>
              <a:defRPr sz="1900" b="0">
                <a:solidFill>
                  <a:srgbClr val="18334A"/>
                </a:solidFill>
                <a:latin typeface="Aptos"/>
              </a:defRPr>
            </a:pPr>
            <a:r>
              <a:t>7,832 units; all eligible years included with their natural corpus sizes.</a:t>
            </a:r>
          </a:p>
          <a:p>
            <a:pPr>
              <a:spcAft>
                <a:spcPts val="1200"/>
              </a:spcAft>
              <a:defRPr sz="1900" b="0">
                <a:solidFill>
                  <a:srgbClr val="18334A"/>
                </a:solidFill>
                <a:latin typeface="Aptos"/>
              </a:defRPr>
            </a:pPr>
            <a:r>
              <a:t>Verification is based on the researcher's confirmation of the cleaned source—not a new independent PDF audit.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DATA ACCOUNTING</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Year-by-year corpus coverage</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CLEAN-TEXT FULL-CORPUS RUN · INITIAL INTRINSIC RESULTS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04</a:t>
            </a:r>
          </a:p>
        </p:txBody>
      </p:sp>
      <p:pic>
        <p:nvPicPr>
          <p:cNvPr id="7" name="Picture 6" descr="corpus_by_year.png"/>
          <p:cNvPicPr>
            <a:picLocks noChangeAspect="1"/>
          </p:cNvPicPr>
          <p:nvPr/>
        </p:nvPicPr>
        <p:blipFill>
          <a:blip r:embed="rId2"/>
          <a:stretch>
            <a:fillRect/>
          </a:stretch>
        </p:blipFill>
        <p:spPr>
          <a:xfrm>
            <a:off x="1863561" y="1508760"/>
            <a:ext cx="8434396"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EXTRACTION AUDIT</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Source verification and extraction are different</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CLEAN-TEXT FULL-CORPUS RUN · INITIAL INTRINSIC RESULTS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05</a:t>
            </a:r>
          </a:p>
        </p:txBody>
      </p:sp>
      <p:sp>
        <p:nvSpPr>
          <p:cNvPr id="7" name="TextBox 6"/>
          <p:cNvSpPr txBox="1"/>
          <p:nvPr/>
        </p:nvSpPr>
        <p:spPr>
          <a:xfrm>
            <a:off x="731520" y="1691640"/>
            <a:ext cx="10698480" cy="4526280"/>
          </a:xfrm>
          <a:prstGeom prst="rect">
            <a:avLst/>
          </a:prstGeom>
          <a:noFill/>
        </p:spPr>
        <p:txBody>
          <a:bodyPr wrap="square">
            <a:spAutoFit/>
          </a:bodyPr>
          <a:lstStyle/>
          <a:p>
            <a:pPr>
              <a:spcAft>
                <a:spcPts val="1200"/>
              </a:spcAft>
              <a:defRPr sz="1900" b="0">
                <a:solidFill>
                  <a:srgbClr val="18334A"/>
                </a:solidFill>
                <a:latin typeface="Aptos"/>
              </a:defRPr>
            </a:pPr>
            <a:r>
              <a:t>7,235 automatically detected numbered sections.</a:t>
            </a:r>
          </a:p>
          <a:p>
            <a:pPr>
              <a:spcAft>
                <a:spcPts val="1200"/>
              </a:spcAft>
              <a:defRPr sz="1900" b="0">
                <a:solidFill>
                  <a:srgbClr val="18334A"/>
                </a:solidFill>
                <a:latin typeface="Aptos"/>
              </a:defRPr>
            </a:pPr>
            <a:r>
              <a:t>597 whole-document fallback units for missing or repeated section headings.</a:t>
            </a:r>
          </a:p>
          <a:p>
            <a:pPr>
              <a:spcAft>
                <a:spcPts val="1200"/>
              </a:spcAft>
              <a:defRPr sz="1900" b="0">
                <a:solidFill>
                  <a:srgbClr val="18334A"/>
                </a:solidFill>
                <a:latin typeface="Aptos"/>
              </a:defRPr>
            </a:pPr>
            <a:r>
              <a:t>623 effectivity/separability/repealing-clause units removed.</a:t>
            </a:r>
          </a:p>
          <a:p>
            <a:pPr>
              <a:spcAft>
                <a:spcPts val="1200"/>
              </a:spcAft>
              <a:defRPr sz="1900" b="0">
                <a:solidFill>
                  <a:srgbClr val="18334A"/>
                </a:solidFill>
                <a:latin typeface="Aptos"/>
              </a:defRPr>
            </a:pPr>
            <a:r>
              <a:t>Explicit signature blocks are trimmed; source TXT files remain unchanged.</a:t>
            </a:r>
          </a:p>
          <a:p>
            <a:pPr>
              <a:spcAft>
                <a:spcPts val="1200"/>
              </a:spcAft>
              <a:defRPr sz="1900" b="0">
                <a:solidFill>
                  <a:srgbClr val="18334A"/>
                </a:solidFill>
                <a:latin typeface="Aptos"/>
              </a:defRPr>
            </a:pPr>
          </a:p>
          <a:p>
            <a:pPr>
              <a:spcAft>
                <a:spcPts val="1200"/>
              </a:spcAft>
              <a:defRPr sz="1900" b="0">
                <a:solidFill>
                  <a:srgbClr val="18334A"/>
                </a:solidFill>
                <a:latin typeface="Aptos"/>
              </a:defRPr>
            </a:pPr>
            <a:r>
              <a:t>45 additional text versions share ordinance numbers and are flagged, not silently merged.</a:t>
            </a:r>
          </a:p>
          <a:p>
            <a:pPr>
              <a:spcAft>
                <a:spcPts val="1200"/>
              </a:spcAft>
              <a:defRPr sz="1900" b="0">
                <a:solidFill>
                  <a:srgbClr val="18334A"/>
                </a:solidFill>
                <a:latin typeface="Aptos"/>
              </a:defRPr>
            </a:pPr>
            <a:r>
              <a:t>28 extracted enactment-year candidates disagree with assigned study years. Human overrides / user-verified folders remain authoritative.</a:t>
            </a:r>
          </a:p>
          <a:p>
            <a:pPr>
              <a:spcAft>
                <a:spcPts val="1200"/>
              </a:spcAft>
              <a:defRPr sz="1900" b="0">
                <a:solidFill>
                  <a:srgbClr val="18334A"/>
                </a:solidFill>
                <a:latin typeface="Aptos"/>
              </a:defRPr>
            </a:pPr>
            <a:r>
              <a:t>These flags and mixed unit lengths remain interpretation limitations.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MODEL PIPELINES</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A clean-text-only architecture</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CLEAN-TEXT FULL-CORPUS RUN · INITIAL INTRINSIC RESULTS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06</a:t>
            </a:r>
          </a:p>
        </p:txBody>
      </p:sp>
      <p:pic>
        <p:nvPicPr>
          <p:cNvPr id="7" name="Picture 6" descr="clean_text_pipelines.png"/>
          <p:cNvPicPr>
            <a:picLocks noChangeAspect="1"/>
          </p:cNvPicPr>
          <p:nvPr/>
        </p:nvPicPr>
        <p:blipFill>
          <a:blip r:embed="rId2"/>
          <a:stretch>
            <a:fillRect/>
          </a:stretch>
        </p:blipFill>
        <p:spPr>
          <a:xfrm>
            <a:off x="1113190" y="1508760"/>
            <a:ext cx="9935138" cy="4206240"/>
          </a:xfrm>
          <a:prstGeom prst="rect">
            <a:avLst/>
          </a:prstGeom>
        </p:spPr>
      </p:pic>
      <p:sp>
        <p:nvSpPr>
          <p:cNvPr id="8" name="TextBox 7"/>
          <p:cNvSpPr txBox="1"/>
          <p:nvPr/>
        </p:nvSpPr>
        <p:spPr>
          <a:xfrm>
            <a:off x="731520" y="5852160"/>
            <a:ext cx="10698480" cy="457200"/>
          </a:xfrm>
          <a:prstGeom prst="rect">
            <a:avLst/>
          </a:prstGeom>
          <a:noFill/>
        </p:spPr>
        <p:txBody>
          <a:bodyPr wrap="square">
            <a:spAutoFit/>
          </a:bodyPr>
          <a:lstStyle/>
          <a:p>
            <a:pPr>
              <a:spcAft>
                <a:spcPts val="1200"/>
              </a:spcAft>
              <a:defRPr sz="1400" b="0">
                <a:solidFill>
                  <a:srgbClr val="607487"/>
                </a:solidFill>
                <a:latin typeface="Aptos"/>
              </a:defRPr>
            </a:pPr>
            <a:r>
              <a:t>c-TF-IDF requires classes: lexical TF-IDF/SVD supplies initial assignments; both paths apply c-TF-IDF after clustering.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SEMANTIC PIPELINE</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Legal-BERT: what actually ran</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CLEAN-TEXT FULL-CORPUS RUN · INITIAL INTRINSIC RESULTS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07</a:t>
            </a:r>
          </a:p>
        </p:txBody>
      </p:sp>
      <p:sp>
        <p:nvSpPr>
          <p:cNvPr id="7" name="TextBox 6"/>
          <p:cNvSpPr txBox="1"/>
          <p:nvPr/>
        </p:nvSpPr>
        <p:spPr>
          <a:xfrm>
            <a:off x="731520" y="1691640"/>
            <a:ext cx="10698480" cy="4526280"/>
          </a:xfrm>
          <a:prstGeom prst="rect">
            <a:avLst/>
          </a:prstGeom>
          <a:noFill/>
        </p:spPr>
        <p:txBody>
          <a:bodyPr wrap="square">
            <a:spAutoFit/>
          </a:bodyPr>
          <a:lstStyle/>
          <a:p>
            <a:pPr>
              <a:spcAft>
                <a:spcPts val="1200"/>
              </a:spcAft>
              <a:defRPr sz="1900" b="0">
                <a:solidFill>
                  <a:srgbClr val="18334A"/>
                </a:solidFill>
                <a:latin typeface="Aptos"/>
              </a:defRPr>
            </a:pPr>
            <a:r>
              <a:t>Encoder: nlpaueb/legal-bert-base-uncased; pinned revision.</a:t>
            </a:r>
          </a:p>
          <a:p>
            <a:pPr>
              <a:spcAft>
                <a:spcPts val="1200"/>
              </a:spcAft>
              <a:defRPr sz="1900" b="0">
                <a:solidFill>
                  <a:srgbClr val="18334A"/>
                </a:solidFill>
                <a:latin typeface="Aptos"/>
              </a:defRPr>
            </a:pPr>
            <a:r>
              <a:t>11,546 non-overlapping chunks, maximum 512 tokens including specials.</a:t>
            </a:r>
          </a:p>
          <a:p>
            <a:pPr>
              <a:spcAft>
                <a:spcPts val="1200"/>
              </a:spcAft>
              <a:defRPr sz="1900" b="0">
                <a:solidFill>
                  <a:srgbClr val="18334A"/>
                </a:solidFill>
                <a:latin typeface="Aptos"/>
              </a:defRPr>
            </a:pPr>
            <a:r>
              <a:t>Content-token weighted pooling excludes padding and special tokens; every chunk is included.</a:t>
            </a:r>
          </a:p>
          <a:p>
            <a:pPr>
              <a:spcAft>
                <a:spcPts val="1200"/>
              </a:spcAft>
              <a:defRPr sz="1900" b="0">
                <a:solidFill>
                  <a:srgbClr val="18334A"/>
                </a:solidFill>
                <a:latin typeface="Aptos"/>
              </a:defRPr>
            </a:pPr>
            <a:r>
              <a:t>L2-normalized 768-dimensional vectors retain source file / unit / year associations.</a:t>
            </a:r>
          </a:p>
          <a:p>
            <a:pPr>
              <a:spcAft>
                <a:spcPts val="1200"/>
              </a:spcAft>
              <a:defRPr sz="1900" b="0">
                <a:solidFill>
                  <a:srgbClr val="18334A"/>
                </a:solidFill>
                <a:latin typeface="Aptos"/>
              </a:defRPr>
            </a:pPr>
            <a:r>
              <a:t>Device: cuda · GPU inference uses unchanged pretrained weights.</a:t>
            </a:r>
          </a:p>
          <a:p>
            <a:pPr>
              <a:spcAft>
                <a:spcPts val="1200"/>
              </a:spcAft>
              <a:defRPr sz="1900" b="0">
                <a:solidFill>
                  <a:srgbClr val="18334A"/>
                </a:solidFill>
                <a:latin typeface="Aptos"/>
              </a:defRPr>
            </a:pPr>
          </a:p>
          <a:p>
            <a:pPr>
              <a:spcAft>
                <a:spcPts val="1200"/>
              </a:spcAft>
              <a:defRPr sz="1900" b="0">
                <a:solidFill>
                  <a:srgbClr val="18334A"/>
                </a:solidFill>
                <a:latin typeface="Aptos"/>
              </a:defRPr>
            </a:pPr>
            <a:r>
              <a:t>No classifier training, learning rate or fine-tuning epochs are claimed. Encoder suitability still requires empirical and legal-expert assessment.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PARAMETER EVIDENCE</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Actual tuning parameters</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CLEAN-TEXT FULL-CORPUS RUN · INITIAL INTRINSIC RESULTS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08</a:t>
            </a:r>
          </a:p>
        </p:txBody>
      </p:sp>
      <p:pic>
        <p:nvPicPr>
          <p:cNvPr id="7" name="Picture 6" descr="executed_parameters.png"/>
          <p:cNvPicPr>
            <a:picLocks noChangeAspect="1"/>
          </p:cNvPicPr>
          <p:nvPr/>
        </p:nvPicPr>
        <p:blipFill>
          <a:blip r:embed="rId2"/>
          <a:stretch>
            <a:fillRect/>
          </a:stretch>
        </p:blipFill>
        <p:spPr>
          <a:xfrm>
            <a:off x="640080" y="1988368"/>
            <a:ext cx="10881360" cy="3247022"/>
          </a:xfrm>
          <a:prstGeom prst="rect">
            <a:avLst/>
          </a:prstGeom>
        </p:spPr>
      </p:pic>
      <p:sp>
        <p:nvSpPr>
          <p:cNvPr id="8" name="TextBox 7"/>
          <p:cNvSpPr txBox="1"/>
          <p:nvPr/>
        </p:nvSpPr>
        <p:spPr>
          <a:xfrm>
            <a:off x="731520" y="5852160"/>
            <a:ext cx="10698480" cy="457200"/>
          </a:xfrm>
          <a:prstGeom prst="rect">
            <a:avLst/>
          </a:prstGeom>
          <a:noFill/>
        </p:spPr>
        <p:txBody>
          <a:bodyPr wrap="square">
            <a:spAutoFit/>
          </a:bodyPr>
          <a:lstStyle/>
          <a:p>
            <a:pPr>
              <a:spcAft>
                <a:spcPts val="1200"/>
              </a:spcAft>
              <a:defRPr sz="1400" b="0">
                <a:solidFill>
                  <a:srgbClr val="607487"/>
                </a:solidFill>
                <a:latin typeface="Aptos"/>
              </a:defRPr>
            </a:pPr>
            <a:r>
              <a:t>Rendered configuration evidence—not a training-interface screenshot. Three stability runs means one primary fit plus two extra seeds.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INITIAL RESULTS</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Initial full-corpus metrics</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CLEAN-TEXT FULL-CORPUS RUN · INITIAL INTRINSIC RESULTS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09</a:t>
            </a:r>
          </a:p>
        </p:txBody>
      </p:sp>
      <p:pic>
        <p:nvPicPr>
          <p:cNvPr id="7" name="Picture 6" descr="initial_metrics.png"/>
          <p:cNvPicPr>
            <a:picLocks noChangeAspect="1"/>
          </p:cNvPicPr>
          <p:nvPr/>
        </p:nvPicPr>
        <p:blipFill>
          <a:blip r:embed="rId2"/>
          <a:stretch>
            <a:fillRect/>
          </a:stretch>
        </p:blipFill>
        <p:spPr>
          <a:xfrm>
            <a:off x="675640" y="1508760"/>
            <a:ext cx="10810239" cy="4206240"/>
          </a:xfrm>
          <a:prstGeom prst="rect">
            <a:avLst/>
          </a:prstGeom>
        </p:spPr>
      </p:pic>
      <p:sp>
        <p:nvSpPr>
          <p:cNvPr id="8" name="TextBox 7"/>
          <p:cNvSpPr txBox="1"/>
          <p:nvPr/>
        </p:nvSpPr>
        <p:spPr>
          <a:xfrm>
            <a:off x="731520" y="5852160"/>
            <a:ext cx="10698480" cy="457200"/>
          </a:xfrm>
          <a:prstGeom prst="rect">
            <a:avLst/>
          </a:prstGeom>
          <a:noFill/>
        </p:spPr>
        <p:txBody>
          <a:bodyPr wrap="square">
            <a:spAutoFit/>
          </a:bodyPr>
          <a:lstStyle/>
          <a:p>
            <a:pPr>
              <a:spcAft>
                <a:spcPts val="1200"/>
              </a:spcAft>
              <a:defRPr sz="1400" b="0">
                <a:solidFill>
                  <a:srgbClr val="607487"/>
                </a:solidFill>
                <a:latin typeface="Aptos"/>
              </a:defRPr>
            </a:pPr>
            <a:r>
              <a:t>These are in-sample intrinsic scores, not accuracy/F1 or proof of legal validity.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COMPARATIVE READING</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Read the comparison as trade-offs</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CLEAN-TEXT FULL-CORPUS RUN · INITIAL INTRINSIC RESULTS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10</a:t>
            </a:r>
          </a:p>
        </p:txBody>
      </p:sp>
      <p:sp>
        <p:nvSpPr>
          <p:cNvPr id="7" name="TextBox 6"/>
          <p:cNvSpPr txBox="1"/>
          <p:nvPr/>
        </p:nvSpPr>
        <p:spPr>
          <a:xfrm>
            <a:off x="731520" y="1691640"/>
            <a:ext cx="10698480" cy="4526280"/>
          </a:xfrm>
          <a:prstGeom prst="rect">
            <a:avLst/>
          </a:prstGeom>
          <a:noFill/>
        </p:spPr>
        <p:txBody>
          <a:bodyPr wrap="square">
            <a:spAutoFit/>
          </a:bodyPr>
          <a:lstStyle/>
          <a:p>
            <a:pPr>
              <a:spcAft>
                <a:spcPts val="1200"/>
              </a:spcAft>
              <a:defRPr sz="1900" b="0">
                <a:solidFill>
                  <a:srgbClr val="18334A"/>
                </a:solidFill>
                <a:latin typeface="Aptos"/>
              </a:defRPr>
            </a:pPr>
            <a:r>
              <a:t>Coherence C_v: lexical 0.788 vs Legal-BERT 0.781.</a:t>
            </a:r>
          </a:p>
          <a:p>
            <a:pPr>
              <a:spcAft>
                <a:spcPts val="1200"/>
              </a:spcAft>
              <a:defRPr sz="1900" b="0">
                <a:solidFill>
                  <a:srgbClr val="18334A"/>
                </a:solidFill>
                <a:latin typeface="Aptos"/>
              </a:defRPr>
            </a:pPr>
            <a:r>
              <a:t>Keyword diversity: lexical 0.469 vs Legal-BERT 0.492.</a:t>
            </a:r>
          </a:p>
          <a:p>
            <a:pPr>
              <a:spcAft>
                <a:spcPts val="1200"/>
              </a:spcAft>
              <a:defRPr sz="1900" b="0">
                <a:solidFill>
                  <a:srgbClr val="18334A"/>
                </a:solidFill>
                <a:latin typeface="Aptos"/>
              </a:defRPr>
            </a:pPr>
            <a:r>
              <a:t>Coverage: lexical 90.5% vs Legal-BERT 83.1%.</a:t>
            </a:r>
          </a:p>
          <a:p>
            <a:pPr>
              <a:spcAft>
                <a:spcPts val="1200"/>
              </a:spcAft>
              <a:defRPr sz="1900" b="0">
                <a:solidFill>
                  <a:srgbClr val="18334A"/>
                </a:solidFill>
                <a:latin typeface="Aptos"/>
              </a:defRPr>
            </a:pPr>
            <a:r>
              <a:t>Seed stability ARI: lexical 0.530 vs Legal-BERT 0.574.</a:t>
            </a:r>
          </a:p>
          <a:p>
            <a:pPr>
              <a:spcAft>
                <a:spcPts val="1200"/>
              </a:spcAft>
              <a:defRPr sz="1900" b="0">
                <a:solidFill>
                  <a:srgbClr val="18334A"/>
                </a:solidFill>
                <a:latin typeface="Aptos"/>
              </a:defRPr>
            </a:pPr>
          </a:p>
          <a:p>
            <a:pPr>
              <a:spcAft>
                <a:spcPts val="1200"/>
              </a:spcAft>
              <a:defRPr sz="1900" b="0">
                <a:solidFill>
                  <a:srgbClr val="18334A"/>
                </a:solidFill>
                <a:latin typeface="Aptos"/>
              </a:defRPr>
            </a:pPr>
            <a:r>
              <a:t>The stronger model can differ by criterion. More coverage or fewer topics alone does not establish better policy themes.</a:t>
            </a:r>
          </a:p>
          <a:p>
            <a:pPr>
              <a:spcAft>
                <a:spcPts val="1200"/>
              </a:spcAft>
              <a:defRPr sz="1900" b="0">
                <a:solidFill>
                  <a:srgbClr val="18334A"/>
                </a:solidFill>
                <a:latin typeface="Aptos"/>
              </a:defRPr>
            </a:pPr>
            <a:r>
              <a:t>Do not attribute differences from the old sample solely to the text-input change: corpus size, extraction and parameter settings also changed.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INITIAL RESULTS</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Sensitivity to a second configuration</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CLEAN-TEXT FULL-CORPUS RUN · INITIAL INTRINSIC RESULTS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11</a:t>
            </a:r>
          </a:p>
        </p:txBody>
      </p:sp>
      <p:pic>
        <p:nvPicPr>
          <p:cNvPr id="7" name="Picture 6" descr="tuning_results.png"/>
          <p:cNvPicPr>
            <a:picLocks noChangeAspect="1"/>
          </p:cNvPicPr>
          <p:nvPr/>
        </p:nvPicPr>
        <p:blipFill>
          <a:blip r:embed="rId2"/>
          <a:stretch>
            <a:fillRect/>
          </a:stretch>
        </p:blipFill>
        <p:spPr>
          <a:xfrm>
            <a:off x="640080" y="1886100"/>
            <a:ext cx="10881360" cy="3451559"/>
          </a:xfrm>
          <a:prstGeom prst="rect">
            <a:avLst/>
          </a:prstGeom>
        </p:spPr>
      </p:pic>
      <p:sp>
        <p:nvSpPr>
          <p:cNvPr id="8" name="TextBox 7"/>
          <p:cNvSpPr txBox="1"/>
          <p:nvPr/>
        </p:nvSpPr>
        <p:spPr>
          <a:xfrm>
            <a:off x="731520" y="5852160"/>
            <a:ext cx="10698480" cy="457200"/>
          </a:xfrm>
          <a:prstGeom prst="rect">
            <a:avLst/>
          </a:prstGeom>
          <a:noFill/>
        </p:spPr>
        <p:txBody>
          <a:bodyPr wrap="square">
            <a:spAutoFit/>
          </a:bodyPr>
          <a:lstStyle/>
          <a:p>
            <a:pPr>
              <a:spcAft>
                <a:spcPts val="1200"/>
              </a:spcAft>
              <a:defRPr sz="1400" b="0">
                <a:solidFill>
                  <a:srgbClr val="607487"/>
                </a:solidFill>
                <a:latin typeface="Aptos"/>
              </a:defRPr>
            </a:pPr>
            <a:r>
              <a:t>Both configurations are evaluated on the same units. This is not held-out tuning or a final model selection.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EXECUTION EVIDENCE</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A real BERT output snippet</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CLEAN-TEXT FULL-CORPUS RUN · INITIAL INTRINSIC RESULTS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12</a:t>
            </a:r>
          </a:p>
        </p:txBody>
      </p:sp>
      <p:pic>
        <p:nvPicPr>
          <p:cNvPr id="7" name="Picture 6" descr="bert_output_snippet.png"/>
          <p:cNvPicPr>
            <a:picLocks noChangeAspect="1"/>
          </p:cNvPicPr>
          <p:nvPr/>
        </p:nvPicPr>
        <p:blipFill>
          <a:blip r:embed="rId2"/>
          <a:stretch>
            <a:fillRect/>
          </a:stretch>
        </p:blipFill>
        <p:spPr>
          <a:xfrm>
            <a:off x="640080" y="1801582"/>
            <a:ext cx="10881360" cy="3986355"/>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INTERPRETATION</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Representative outputs retain TXT provenance</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CLEAN-TEXT FULL-CORPUS RUN · INITIAL INTRINSIC RESULTS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13</a:t>
            </a:r>
          </a:p>
        </p:txBody>
      </p:sp>
      <p:sp>
        <p:nvSpPr>
          <p:cNvPr id="7" name="TextBox 6"/>
          <p:cNvSpPr txBox="1"/>
          <p:nvPr/>
        </p:nvSpPr>
        <p:spPr>
          <a:xfrm>
            <a:off x="731520" y="1691640"/>
            <a:ext cx="5074920" cy="4480560"/>
          </a:xfrm>
          <a:prstGeom prst="rect">
            <a:avLst/>
          </a:prstGeom>
          <a:noFill/>
        </p:spPr>
        <p:txBody>
          <a:bodyPr wrap="square">
            <a:spAutoFit/>
          </a:bodyPr>
          <a:lstStyle/>
          <a:p>
            <a:pPr>
              <a:spcAft>
                <a:spcPts val="1200"/>
              </a:spcAft>
              <a:defRPr sz="1600" b="0">
                <a:solidFill>
                  <a:srgbClr val="18334A"/>
                </a:solidFill>
                <a:latin typeface="Aptos"/>
              </a:defRPr>
            </a:pPr>
            <a:r>
              <a:t>Model A · Lexical</a:t>
            </a:r>
          </a:p>
          <a:p>
            <a:pPr>
              <a:spcAft>
                <a:spcPts val="1200"/>
              </a:spcAft>
              <a:defRPr sz="1600" b="0">
                <a:solidFill>
                  <a:srgbClr val="18334A"/>
                </a:solidFill>
                <a:latin typeface="Aptos"/>
              </a:defRPr>
            </a:pPr>
            <a:r>
              <a:t>T0: authorizing, memorandum, agreement</a:t>
            </a:r>
          </a:p>
          <a:p>
            <a:pPr>
              <a:spcAft>
                <a:spcPts val="1200"/>
              </a:spcAft>
              <a:defRPr sz="1600" b="0">
                <a:solidFill>
                  <a:srgbClr val="18334A"/>
                </a:solidFill>
                <a:latin typeface="Aptos"/>
              </a:defRPr>
            </a:pPr>
          </a:p>
          <a:p>
            <a:pPr>
              <a:spcAft>
                <a:spcPts val="1200"/>
              </a:spcAft>
              <a:defRPr sz="1600" b="0">
                <a:solidFill>
                  <a:srgbClr val="18334A"/>
                </a:solidFill>
                <a:latin typeface="Aptos"/>
              </a:defRPr>
            </a:pPr>
            <a:r>
              <a:t>2016/Ordinance No. 0128-16.txt</a:t>
            </a:r>
          </a:p>
          <a:p>
            <a:pPr>
              <a:spcAft>
                <a:spcPts val="1200"/>
              </a:spcAft>
              <a:defRPr sz="1600" b="0">
                <a:solidFill>
                  <a:srgbClr val="18334A"/>
                </a:solidFill>
                <a:latin typeface="Aptos"/>
              </a:defRPr>
            </a:pPr>
            <a:r>
              <a:t>section_1 / study year 2016</a:t>
            </a:r>
          </a:p>
          <a:p>
            <a:pPr>
              <a:spcAft>
                <a:spcPts val="1200"/>
              </a:spcAft>
              <a:defRPr sz="1600" b="0">
                <a:solidFill>
                  <a:srgbClr val="18334A"/>
                </a:solidFill>
                <a:latin typeface="Aptos"/>
              </a:defRPr>
            </a:pPr>
          </a:p>
          <a:p>
            <a:pPr>
              <a:spcAft>
                <a:spcPts val="1200"/>
              </a:spcAft>
              <a:defRPr sz="1600" b="0">
                <a:solidFill>
                  <a:srgbClr val="18334A"/>
                </a:solidFill>
                <a:latin typeface="Aptos"/>
              </a:defRPr>
            </a:pPr>
            <a:r>
              <a:t>TITLE.- This Ordinance shall be known as "AN ORDINANCE GRANTING LEGISLATTVE AUTHORITY TO THE CITY MAYOR TO ENTER INTO AND SIGN, FOR AND IN BEHALF OF THE CITY GOVERNMENT OF DAVAO THE MEMORANDUM OF AGREEMENT TO BE ENTERED INTO BY AND BETWEEN TTIE CITY GOVERNMENT OF DAVAO AND THE DEPARTMENT OF INFORMAT</a:t>
            </a:r>
          </a:p>
        </p:txBody>
      </p:sp>
      <p:sp>
        <p:nvSpPr>
          <p:cNvPr id="8" name="TextBox 7"/>
          <p:cNvSpPr txBox="1"/>
          <p:nvPr/>
        </p:nvSpPr>
        <p:spPr>
          <a:xfrm>
            <a:off x="6400800" y="1691640"/>
            <a:ext cx="5074920" cy="4480560"/>
          </a:xfrm>
          <a:prstGeom prst="rect">
            <a:avLst/>
          </a:prstGeom>
          <a:noFill/>
        </p:spPr>
        <p:txBody>
          <a:bodyPr wrap="square">
            <a:spAutoFit/>
          </a:bodyPr>
          <a:lstStyle/>
          <a:p>
            <a:pPr>
              <a:spcAft>
                <a:spcPts val="1200"/>
              </a:spcAft>
              <a:defRPr sz="1600" b="0">
                <a:solidFill>
                  <a:srgbClr val="18334A"/>
                </a:solidFill>
                <a:latin typeface="Aptos"/>
              </a:defRPr>
            </a:pPr>
            <a:r>
              <a:t>Model B · Legal-BERT</a:t>
            </a:r>
          </a:p>
          <a:p>
            <a:pPr>
              <a:spcAft>
                <a:spcPts val="1200"/>
              </a:spcAft>
              <a:defRPr sz="1600" b="0">
                <a:solidFill>
                  <a:srgbClr val="18334A"/>
                </a:solidFill>
                <a:latin typeface="Aptos"/>
              </a:defRPr>
            </a:pPr>
            <a:r>
              <a:t>T0: street, closure, temporary</a:t>
            </a:r>
          </a:p>
          <a:p>
            <a:pPr>
              <a:spcAft>
                <a:spcPts val="1200"/>
              </a:spcAft>
              <a:defRPr sz="1600" b="0">
                <a:solidFill>
                  <a:srgbClr val="18334A"/>
                </a:solidFill>
                <a:latin typeface="Aptos"/>
              </a:defRPr>
            </a:pPr>
          </a:p>
          <a:p>
            <a:pPr>
              <a:spcAft>
                <a:spcPts val="1200"/>
              </a:spcAft>
              <a:defRPr sz="1600" b="0">
                <a:solidFill>
                  <a:srgbClr val="18334A"/>
                </a:solidFill>
                <a:latin typeface="Aptos"/>
              </a:defRPr>
            </a:pPr>
            <a:r>
              <a:t>2016/Ordinance No. 100-16.txt</a:t>
            </a:r>
          </a:p>
          <a:p>
            <a:pPr>
              <a:spcAft>
                <a:spcPts val="1200"/>
              </a:spcAft>
              <a:defRPr sz="1600" b="0">
                <a:solidFill>
                  <a:srgbClr val="18334A"/>
                </a:solidFill>
                <a:latin typeface="Aptos"/>
              </a:defRPr>
            </a:pPr>
            <a:r>
              <a:t>section_1 / study year 2016</a:t>
            </a:r>
          </a:p>
          <a:p>
            <a:pPr>
              <a:spcAft>
                <a:spcPts val="1200"/>
              </a:spcAft>
              <a:defRPr sz="1600" b="0">
                <a:solidFill>
                  <a:srgbClr val="18334A"/>
                </a:solidFill>
                <a:latin typeface="Aptos"/>
              </a:defRPr>
            </a:pPr>
          </a:p>
          <a:p>
            <a:pPr>
              <a:spcAft>
                <a:spcPts val="1200"/>
              </a:spcAft>
              <a:defRPr sz="1600" b="0">
                <a:solidFill>
                  <a:srgbClr val="18334A"/>
                </a:solidFill>
                <a:latin typeface="Aptos"/>
              </a:defRPr>
            </a:pPr>
            <a:r>
              <a:t>TITLE.- This Ordinance shalt be known as..AN ORDINANCE FOR THE TEMPORARY CLOSURE TO VEHICULAR TRAFFIC OF THE ROAD BESIDE RIZAL PARK ALONG BOLTON AND SAN PEDRO STREETS, POBLACION, THIS CITY, ON NOVEMBER 30, 2016 FROM 1:00 P.M. TO 1O:00 p.M. FOR A RELIGIOUS PUBLIC RALLY UNDER THE THEME, ''EST'S REIGNS</a:t>
            </a:r>
          </a:p>
        </p:txBody>
      </p:sp>
      <p:sp>
        <p:nvSpPr>
          <p:cNvPr id="9" name="TextBox 8"/>
          <p:cNvSpPr txBox="1"/>
          <p:nvPr/>
        </p:nvSpPr>
        <p:spPr>
          <a:xfrm>
            <a:off x="731520" y="5897880"/>
            <a:ext cx="10698480" cy="411480"/>
          </a:xfrm>
          <a:prstGeom prst="rect">
            <a:avLst/>
          </a:prstGeom>
          <a:noFill/>
        </p:spPr>
        <p:txBody>
          <a:bodyPr wrap="square">
            <a:spAutoFit/>
          </a:bodyPr>
          <a:lstStyle/>
          <a:p>
            <a:pPr>
              <a:spcAft>
                <a:spcPts val="1200"/>
              </a:spcAft>
              <a:defRPr sz="1400" b="0">
                <a:solidFill>
                  <a:srgbClr val="607487"/>
                </a:solidFill>
                <a:latin typeface="Aptos"/>
              </a:defRPr>
            </a:pPr>
            <a:r>
              <a:t>Machine-generated keyword sets are not expert-approved policy labels.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TEMPORAL COMPARISON</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Yearly assignment coverage</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CLEAN-TEXT FULL-CORPUS RUN · INITIAL INTRINSIC RESULTS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14</a:t>
            </a:r>
          </a:p>
        </p:txBody>
      </p:sp>
      <p:pic>
        <p:nvPicPr>
          <p:cNvPr id="7" name="Picture 6" descr="yearly_coverage.png"/>
          <p:cNvPicPr>
            <a:picLocks noChangeAspect="1"/>
          </p:cNvPicPr>
          <p:nvPr/>
        </p:nvPicPr>
        <p:blipFill>
          <a:blip r:embed="rId2"/>
          <a:stretch>
            <a:fillRect/>
          </a:stretch>
        </p:blipFill>
        <p:spPr>
          <a:xfrm>
            <a:off x="640080" y="1603013"/>
            <a:ext cx="10881360" cy="4017732"/>
          </a:xfrm>
          <a:prstGeom prst="rect">
            <a:avLst/>
          </a:prstGeom>
        </p:spPr>
      </p:pic>
      <p:sp>
        <p:nvSpPr>
          <p:cNvPr id="8" name="TextBox 7"/>
          <p:cNvSpPr txBox="1"/>
          <p:nvPr/>
        </p:nvSpPr>
        <p:spPr>
          <a:xfrm>
            <a:off x="731520" y="5852160"/>
            <a:ext cx="10698480" cy="457200"/>
          </a:xfrm>
          <a:prstGeom prst="rect">
            <a:avLst/>
          </a:prstGeom>
          <a:noFill/>
        </p:spPr>
        <p:txBody>
          <a:bodyPr wrap="square">
            <a:spAutoFit/>
          </a:bodyPr>
          <a:lstStyle/>
          <a:p>
            <a:pPr>
              <a:spcAft>
                <a:spcPts val="1200"/>
              </a:spcAft>
              <a:defRPr sz="1400" b="0">
                <a:solidFill>
                  <a:srgbClr val="607487"/>
                </a:solidFill>
                <a:latin typeface="Aptos"/>
              </a:defRPr>
            </a:pPr>
            <a:r>
              <a:t>Each year's denominator includes all modeled units, including outliers; corpus sizes differ across years.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TEMPORAL COMPARISON</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Model A · Lexical · document-weighted trends</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CLEAN-TEXT FULL-CORPUS RUN · INITIAL INTRINSIC RESULTS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15</a:t>
            </a:r>
          </a:p>
        </p:txBody>
      </p:sp>
      <p:pic>
        <p:nvPicPr>
          <p:cNvPr id="7" name="Picture 6" descr="lexical_yearly_heatmap.png"/>
          <p:cNvPicPr>
            <a:picLocks noChangeAspect="1"/>
          </p:cNvPicPr>
          <p:nvPr/>
        </p:nvPicPr>
        <p:blipFill>
          <a:blip r:embed="rId2"/>
          <a:stretch>
            <a:fillRect/>
          </a:stretch>
        </p:blipFill>
        <p:spPr>
          <a:xfrm>
            <a:off x="727363" y="1508760"/>
            <a:ext cx="10706792" cy="4206240"/>
          </a:xfrm>
          <a:prstGeom prst="rect">
            <a:avLst/>
          </a:prstGeom>
        </p:spPr>
      </p:pic>
      <p:sp>
        <p:nvSpPr>
          <p:cNvPr id="8" name="TextBox 7"/>
          <p:cNvSpPr txBox="1"/>
          <p:nvPr/>
        </p:nvSpPr>
        <p:spPr>
          <a:xfrm>
            <a:off x="731520" y="5852160"/>
            <a:ext cx="10698480" cy="457200"/>
          </a:xfrm>
          <a:prstGeom prst="rect">
            <a:avLst/>
          </a:prstGeom>
          <a:noFill/>
        </p:spPr>
        <p:txBody>
          <a:bodyPr wrap="square">
            <a:spAutoFit/>
          </a:bodyPr>
          <a:lstStyle/>
          <a:p>
            <a:pPr>
              <a:spcAft>
                <a:spcPts val="1200"/>
              </a:spcAft>
              <a:defRPr sz="1400" b="0">
                <a:solidFill>
                  <a:srgbClr val="607487"/>
                </a:solidFill>
                <a:latin typeface="Aptos"/>
              </a:defRPr>
            </a:pPr>
            <a:r>
              <a:t>Each source document contributes total weight 1, distributed across its unit topics. Top eight topics only; columns need not sum to 100%.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TEMPORAL COMPARISON</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Model B · Legal-BERT · document-weighted trends</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CLEAN-TEXT FULL-CORPUS RUN · INITIAL INTRINSIC RESULTS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16</a:t>
            </a:r>
          </a:p>
        </p:txBody>
      </p:sp>
      <p:pic>
        <p:nvPicPr>
          <p:cNvPr id="7" name="Picture 6" descr="semantic_yearly_heatmap.png"/>
          <p:cNvPicPr>
            <a:picLocks noChangeAspect="1"/>
          </p:cNvPicPr>
          <p:nvPr/>
        </p:nvPicPr>
        <p:blipFill>
          <a:blip r:embed="rId2"/>
          <a:stretch>
            <a:fillRect/>
          </a:stretch>
        </p:blipFill>
        <p:spPr>
          <a:xfrm>
            <a:off x="727363" y="1508760"/>
            <a:ext cx="10706792" cy="4206240"/>
          </a:xfrm>
          <a:prstGeom prst="rect">
            <a:avLst/>
          </a:prstGeom>
        </p:spPr>
      </p:pic>
      <p:sp>
        <p:nvSpPr>
          <p:cNvPr id="8" name="TextBox 7"/>
          <p:cNvSpPr txBox="1"/>
          <p:nvPr/>
        </p:nvSpPr>
        <p:spPr>
          <a:xfrm>
            <a:off x="731520" y="5852160"/>
            <a:ext cx="10698480" cy="457200"/>
          </a:xfrm>
          <a:prstGeom prst="rect">
            <a:avLst/>
          </a:prstGeom>
          <a:noFill/>
        </p:spPr>
        <p:txBody>
          <a:bodyPr wrap="square">
            <a:spAutoFit/>
          </a:bodyPr>
          <a:lstStyle/>
          <a:p>
            <a:pPr>
              <a:spcAft>
                <a:spcPts val="1200"/>
              </a:spcAft>
              <a:defRPr sz="1400" b="0">
                <a:solidFill>
                  <a:srgbClr val="607487"/>
                </a:solidFill>
                <a:latin typeface="Aptos"/>
              </a:defRPr>
            </a:pPr>
            <a:r>
              <a:t>Each source document contributes total weight 1, distributed across its unit topics. Top eight topics only; columns need not sum to 100%.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RESEARCH STATUS</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Evaluation contract and remaining limitations</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CLEAN-TEXT FULL-CORPUS RUN · INITIAL INTRINSIC RESULTS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17</a:t>
            </a:r>
          </a:p>
        </p:txBody>
      </p:sp>
      <p:sp>
        <p:nvSpPr>
          <p:cNvPr id="7" name="TextBox 6"/>
          <p:cNvSpPr txBox="1"/>
          <p:nvPr/>
        </p:nvSpPr>
        <p:spPr>
          <a:xfrm>
            <a:off x="731520" y="1691640"/>
            <a:ext cx="10698480" cy="4526280"/>
          </a:xfrm>
          <a:prstGeom prst="rect">
            <a:avLst/>
          </a:prstGeom>
          <a:noFill/>
        </p:spPr>
        <p:txBody>
          <a:bodyPr wrap="square">
            <a:spAutoFit/>
          </a:bodyPr>
          <a:lstStyle/>
          <a:p>
            <a:pPr>
              <a:spcAft>
                <a:spcPts val="1200"/>
              </a:spcAft>
              <a:defRPr sz="1900" b="0">
                <a:solidFill>
                  <a:srgbClr val="18334A"/>
                </a:solidFill>
                <a:latin typeface="Aptos"/>
              </a:defRPr>
            </a:pPr>
            <a:r>
              <a:t>C_v: shared unigram keywords and the same model-input texts.</a:t>
            </a:r>
          </a:p>
          <a:p>
            <a:pPr>
              <a:spcAft>
                <a:spcPts val="1200"/>
              </a:spcAft>
              <a:defRPr sz="1900" b="0">
                <a:solidFill>
                  <a:srgbClr val="18334A"/>
                </a:solidFill>
                <a:latin typeface="Aptos"/>
              </a:defRPr>
            </a:pPr>
            <a:r>
              <a:t>Diversity: unique top keywords / actual keyword slots, excluding outliers.</a:t>
            </a:r>
          </a:p>
          <a:p>
            <a:pPr>
              <a:spcAft>
                <a:spcPts val="1200"/>
              </a:spcAft>
              <a:defRPr sz="1900" b="0">
                <a:solidFill>
                  <a:srgbClr val="18334A"/>
                </a:solidFill>
                <a:latin typeface="Aptos"/>
              </a:defRPr>
            </a:pPr>
            <a:r>
              <a:t>Coverage: assigned units / all units. Seed ARI includes outliers as one cluster.</a:t>
            </a:r>
          </a:p>
          <a:p>
            <a:pPr>
              <a:spcAft>
                <a:spcPts val="1200"/>
              </a:spcAft>
              <a:defRPr sz="1900" b="0">
                <a:solidFill>
                  <a:srgbClr val="18334A"/>
                </a:solidFill>
                <a:latin typeface="Aptos"/>
              </a:defRPr>
            </a:pPr>
            <a:r>
              <a:t>Yearly unit shares and document-weighted shares answer different questions.</a:t>
            </a:r>
          </a:p>
          <a:p>
            <a:pPr>
              <a:spcAft>
                <a:spcPts val="1200"/>
              </a:spcAft>
              <a:defRPr sz="1900" b="0">
                <a:solidFill>
                  <a:srgbClr val="18334A"/>
                </a:solidFill>
                <a:latin typeface="Aptos"/>
              </a:defRPr>
            </a:pPr>
          </a:p>
          <a:p>
            <a:pPr>
              <a:spcAft>
                <a:spcPts val="1200"/>
              </a:spcAft>
              <a:defRPr sz="1900" b="0">
                <a:solidFill>
                  <a:srgbClr val="18334A"/>
                </a:solidFill>
                <a:latin typeface="Aptos"/>
              </a:defRPr>
            </a:pPr>
            <a:r>
              <a:t>No artificial BERTopic perplexity, supervised accuracy or fabricated expert scores.</a:t>
            </a:r>
          </a:p>
          <a:p>
            <a:pPr>
              <a:spcAft>
                <a:spcPts val="1200"/>
              </a:spcAft>
              <a:defRPr sz="1900" b="0">
                <a:solidFill>
                  <a:srgbClr val="18334A"/>
                </a:solidFill>
                <a:latin typeface="Aptos"/>
              </a:defRPr>
            </a:pPr>
            <a:r>
              <a:t>Remaining work: inspect extraction/date/version flags, review topic labels with experts, and predefine ordinance-grouped holdouts before final tuning.</a:t>
            </a:r>
          </a:p>
          <a:p>
            <a:pPr>
              <a:spcAft>
                <a:spcPts val="1200"/>
              </a:spcAft>
              <a:defRPr sz="1900" b="0">
                <a:solidFill>
                  <a:srgbClr val="18334A"/>
                </a:solidFill>
                <a:latin typeface="Aptos"/>
              </a:defRPr>
            </a:pPr>
            <a:r>
              <a:t>Source verification does not itself validate clusters or temporal policy interpretations.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YEAR-BY-YEAR RESULTS</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2016 · both models, full eligible texts</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CLEAN-TEXT FULL-CORPUS RUN · INITIAL INTRINSIC RESULTS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18</a:t>
            </a:r>
          </a:p>
        </p:txBody>
      </p:sp>
      <p:pic>
        <p:nvPicPr>
          <p:cNvPr id="7" name="Picture 6" descr="year_2016_comparison.png"/>
          <p:cNvPicPr>
            <a:picLocks noChangeAspect="1"/>
          </p:cNvPicPr>
          <p:nvPr/>
        </p:nvPicPr>
        <p:blipFill>
          <a:blip r:embed="rId2"/>
          <a:stretch>
            <a:fillRect/>
          </a:stretch>
        </p:blipFill>
        <p:spPr>
          <a:xfrm>
            <a:off x="640080" y="1552193"/>
            <a:ext cx="10881360" cy="4119372"/>
          </a:xfrm>
          <a:prstGeom prst="rect">
            <a:avLst/>
          </a:prstGeom>
        </p:spPr>
      </p:pic>
      <p:sp>
        <p:nvSpPr>
          <p:cNvPr id="8" name="TextBox 7"/>
          <p:cNvSpPr txBox="1"/>
          <p:nvPr/>
        </p:nvSpPr>
        <p:spPr>
          <a:xfrm>
            <a:off x="731520" y="5852160"/>
            <a:ext cx="10698480" cy="457200"/>
          </a:xfrm>
          <a:prstGeom prst="rect">
            <a:avLst/>
          </a:prstGeom>
          <a:noFill/>
        </p:spPr>
        <p:txBody>
          <a:bodyPr wrap="square">
            <a:spAutoFit/>
          </a:bodyPr>
          <a:lstStyle/>
          <a:p>
            <a:pPr>
              <a:spcAft>
                <a:spcPts val="1200"/>
              </a:spcAft>
              <a:defRPr sz="1400" b="0">
                <a:solidFill>
                  <a:srgbClr val="607487"/>
                </a:solidFill>
                <a:latin typeface="Aptos"/>
              </a:defRPr>
            </a:pPr>
            <a:r>
              <a:t>Topic numbers are model-local: A/T0 does not mean B/T0. Bars include top three topics, other assigned topics and outliers.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YEAR-BY-YEAR RESULTS</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2017 · both models, full eligible texts</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CLEAN-TEXT FULL-CORPUS RUN · INITIAL INTRINSIC RESULTS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19</a:t>
            </a:r>
          </a:p>
        </p:txBody>
      </p:sp>
      <p:pic>
        <p:nvPicPr>
          <p:cNvPr id="7" name="Picture 6" descr="year_2017_comparison.png"/>
          <p:cNvPicPr>
            <a:picLocks noChangeAspect="1"/>
          </p:cNvPicPr>
          <p:nvPr/>
        </p:nvPicPr>
        <p:blipFill>
          <a:blip r:embed="rId2"/>
          <a:stretch>
            <a:fillRect/>
          </a:stretch>
        </p:blipFill>
        <p:spPr>
          <a:xfrm>
            <a:off x="640080" y="1552193"/>
            <a:ext cx="10881360" cy="4119372"/>
          </a:xfrm>
          <a:prstGeom prst="rect">
            <a:avLst/>
          </a:prstGeom>
        </p:spPr>
      </p:pic>
      <p:sp>
        <p:nvSpPr>
          <p:cNvPr id="8" name="TextBox 7"/>
          <p:cNvSpPr txBox="1"/>
          <p:nvPr/>
        </p:nvSpPr>
        <p:spPr>
          <a:xfrm>
            <a:off x="731520" y="5852160"/>
            <a:ext cx="10698480" cy="457200"/>
          </a:xfrm>
          <a:prstGeom prst="rect">
            <a:avLst/>
          </a:prstGeom>
          <a:noFill/>
        </p:spPr>
        <p:txBody>
          <a:bodyPr wrap="square">
            <a:spAutoFit/>
          </a:bodyPr>
          <a:lstStyle/>
          <a:p>
            <a:pPr>
              <a:spcAft>
                <a:spcPts val="1200"/>
              </a:spcAft>
              <a:defRPr sz="1400" b="0">
                <a:solidFill>
                  <a:srgbClr val="607487"/>
                </a:solidFill>
                <a:latin typeface="Aptos"/>
              </a:defRPr>
            </a:pPr>
            <a:r>
              <a:t>Topic numbers are model-local: A/T0 does not mean B/T0. Bars include top three topics, other assigned topics and outliers.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YEAR-BY-YEAR RESULTS</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2018 · both models, full eligible texts</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CLEAN-TEXT FULL-CORPUS RUN · INITIAL INTRINSIC RESULTS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20</a:t>
            </a:r>
          </a:p>
        </p:txBody>
      </p:sp>
      <p:pic>
        <p:nvPicPr>
          <p:cNvPr id="7" name="Picture 6" descr="year_2018_comparison.png"/>
          <p:cNvPicPr>
            <a:picLocks noChangeAspect="1"/>
          </p:cNvPicPr>
          <p:nvPr/>
        </p:nvPicPr>
        <p:blipFill>
          <a:blip r:embed="rId2"/>
          <a:stretch>
            <a:fillRect/>
          </a:stretch>
        </p:blipFill>
        <p:spPr>
          <a:xfrm>
            <a:off x="640080" y="1552193"/>
            <a:ext cx="10881360" cy="4119372"/>
          </a:xfrm>
          <a:prstGeom prst="rect">
            <a:avLst/>
          </a:prstGeom>
        </p:spPr>
      </p:pic>
      <p:sp>
        <p:nvSpPr>
          <p:cNvPr id="8" name="TextBox 7"/>
          <p:cNvSpPr txBox="1"/>
          <p:nvPr/>
        </p:nvSpPr>
        <p:spPr>
          <a:xfrm>
            <a:off x="731520" y="5852160"/>
            <a:ext cx="10698480" cy="457200"/>
          </a:xfrm>
          <a:prstGeom prst="rect">
            <a:avLst/>
          </a:prstGeom>
          <a:noFill/>
        </p:spPr>
        <p:txBody>
          <a:bodyPr wrap="square">
            <a:spAutoFit/>
          </a:bodyPr>
          <a:lstStyle/>
          <a:p>
            <a:pPr>
              <a:spcAft>
                <a:spcPts val="1200"/>
              </a:spcAft>
              <a:defRPr sz="1400" b="0">
                <a:solidFill>
                  <a:srgbClr val="607487"/>
                </a:solidFill>
                <a:latin typeface="Aptos"/>
              </a:defRPr>
            </a:pPr>
            <a:r>
              <a:t>Topic numbers are model-local: A/T0 does not mean B/T0. Bars include top three topics, other assigned topics and outliers.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YEAR-BY-YEAR RESULTS</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2019 · both models, full eligible texts</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CLEAN-TEXT FULL-CORPUS RUN · INITIAL INTRINSIC RESULTS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21</a:t>
            </a:r>
          </a:p>
        </p:txBody>
      </p:sp>
      <p:pic>
        <p:nvPicPr>
          <p:cNvPr id="7" name="Picture 6" descr="year_2019_comparison.png"/>
          <p:cNvPicPr>
            <a:picLocks noChangeAspect="1"/>
          </p:cNvPicPr>
          <p:nvPr/>
        </p:nvPicPr>
        <p:blipFill>
          <a:blip r:embed="rId2"/>
          <a:stretch>
            <a:fillRect/>
          </a:stretch>
        </p:blipFill>
        <p:spPr>
          <a:xfrm>
            <a:off x="640080" y="1552193"/>
            <a:ext cx="10881360" cy="4119372"/>
          </a:xfrm>
          <a:prstGeom prst="rect">
            <a:avLst/>
          </a:prstGeom>
        </p:spPr>
      </p:pic>
      <p:sp>
        <p:nvSpPr>
          <p:cNvPr id="8" name="TextBox 7"/>
          <p:cNvSpPr txBox="1"/>
          <p:nvPr/>
        </p:nvSpPr>
        <p:spPr>
          <a:xfrm>
            <a:off x="731520" y="5852160"/>
            <a:ext cx="10698480" cy="457200"/>
          </a:xfrm>
          <a:prstGeom prst="rect">
            <a:avLst/>
          </a:prstGeom>
          <a:noFill/>
        </p:spPr>
        <p:txBody>
          <a:bodyPr wrap="square">
            <a:spAutoFit/>
          </a:bodyPr>
          <a:lstStyle/>
          <a:p>
            <a:pPr>
              <a:spcAft>
                <a:spcPts val="1200"/>
              </a:spcAft>
              <a:defRPr sz="1400" b="0">
                <a:solidFill>
                  <a:srgbClr val="607487"/>
                </a:solidFill>
                <a:latin typeface="Aptos"/>
              </a:defRPr>
            </a:pPr>
            <a:r>
              <a:t>Topic numbers are model-local: A/T0 does not mean B/T0. Bars include top three topics, other assigned topics and outliers.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YEAR-BY-YEAR RESULTS</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2020 · both models, full eligible texts</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CLEAN-TEXT FULL-CORPUS RUN · INITIAL INTRINSIC RESULTS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22</a:t>
            </a:r>
          </a:p>
        </p:txBody>
      </p:sp>
      <p:pic>
        <p:nvPicPr>
          <p:cNvPr id="7" name="Picture 6" descr="year_2020_comparison.png"/>
          <p:cNvPicPr>
            <a:picLocks noChangeAspect="1"/>
          </p:cNvPicPr>
          <p:nvPr/>
        </p:nvPicPr>
        <p:blipFill>
          <a:blip r:embed="rId2"/>
          <a:stretch>
            <a:fillRect/>
          </a:stretch>
        </p:blipFill>
        <p:spPr>
          <a:xfrm>
            <a:off x="640080" y="1552193"/>
            <a:ext cx="10881360" cy="4119372"/>
          </a:xfrm>
          <a:prstGeom prst="rect">
            <a:avLst/>
          </a:prstGeom>
        </p:spPr>
      </p:pic>
      <p:sp>
        <p:nvSpPr>
          <p:cNvPr id="8" name="TextBox 7"/>
          <p:cNvSpPr txBox="1"/>
          <p:nvPr/>
        </p:nvSpPr>
        <p:spPr>
          <a:xfrm>
            <a:off x="731520" y="5852160"/>
            <a:ext cx="10698480" cy="457200"/>
          </a:xfrm>
          <a:prstGeom prst="rect">
            <a:avLst/>
          </a:prstGeom>
          <a:noFill/>
        </p:spPr>
        <p:txBody>
          <a:bodyPr wrap="square">
            <a:spAutoFit/>
          </a:bodyPr>
          <a:lstStyle/>
          <a:p>
            <a:pPr>
              <a:spcAft>
                <a:spcPts val="1200"/>
              </a:spcAft>
              <a:defRPr sz="1400" b="0">
                <a:solidFill>
                  <a:srgbClr val="607487"/>
                </a:solidFill>
                <a:latin typeface="Aptos"/>
              </a:defRPr>
            </a:pPr>
            <a:r>
              <a:t>Topic numbers are model-local: A/T0 does not mean B/T0. Bars include top three topics, other assigned topics and outliers.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YEAR-BY-YEAR RESULTS</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2021 · both models, full eligible texts</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CLEAN-TEXT FULL-CORPUS RUN · INITIAL INTRINSIC RESULTS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23</a:t>
            </a:r>
          </a:p>
        </p:txBody>
      </p:sp>
      <p:pic>
        <p:nvPicPr>
          <p:cNvPr id="7" name="Picture 6" descr="year_2021_comparison.png"/>
          <p:cNvPicPr>
            <a:picLocks noChangeAspect="1"/>
          </p:cNvPicPr>
          <p:nvPr/>
        </p:nvPicPr>
        <p:blipFill>
          <a:blip r:embed="rId2"/>
          <a:stretch>
            <a:fillRect/>
          </a:stretch>
        </p:blipFill>
        <p:spPr>
          <a:xfrm>
            <a:off x="640080" y="1552193"/>
            <a:ext cx="10881360" cy="4119372"/>
          </a:xfrm>
          <a:prstGeom prst="rect">
            <a:avLst/>
          </a:prstGeom>
        </p:spPr>
      </p:pic>
      <p:sp>
        <p:nvSpPr>
          <p:cNvPr id="8" name="TextBox 7"/>
          <p:cNvSpPr txBox="1"/>
          <p:nvPr/>
        </p:nvSpPr>
        <p:spPr>
          <a:xfrm>
            <a:off x="731520" y="5852160"/>
            <a:ext cx="10698480" cy="457200"/>
          </a:xfrm>
          <a:prstGeom prst="rect">
            <a:avLst/>
          </a:prstGeom>
          <a:noFill/>
        </p:spPr>
        <p:txBody>
          <a:bodyPr wrap="square">
            <a:spAutoFit/>
          </a:bodyPr>
          <a:lstStyle/>
          <a:p>
            <a:pPr>
              <a:spcAft>
                <a:spcPts val="1200"/>
              </a:spcAft>
              <a:defRPr sz="1400" b="0">
                <a:solidFill>
                  <a:srgbClr val="607487"/>
                </a:solidFill>
                <a:latin typeface="Aptos"/>
              </a:defRPr>
            </a:pPr>
            <a:r>
              <a:t>Topic numbers are model-local: A/T0 does not mean B/T0. Bars include top three topics, other assigned topics and outliers.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YEAR-BY-YEAR RESULTS</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2022 · both models, full eligible texts</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CLEAN-TEXT FULL-CORPUS RUN · INITIAL INTRINSIC RESULTS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24</a:t>
            </a:r>
          </a:p>
        </p:txBody>
      </p:sp>
      <p:pic>
        <p:nvPicPr>
          <p:cNvPr id="7" name="Picture 6" descr="year_2022_comparison.png"/>
          <p:cNvPicPr>
            <a:picLocks noChangeAspect="1"/>
          </p:cNvPicPr>
          <p:nvPr/>
        </p:nvPicPr>
        <p:blipFill>
          <a:blip r:embed="rId2"/>
          <a:stretch>
            <a:fillRect/>
          </a:stretch>
        </p:blipFill>
        <p:spPr>
          <a:xfrm>
            <a:off x="640080" y="1552193"/>
            <a:ext cx="10881360" cy="4119372"/>
          </a:xfrm>
          <a:prstGeom prst="rect">
            <a:avLst/>
          </a:prstGeom>
        </p:spPr>
      </p:pic>
      <p:sp>
        <p:nvSpPr>
          <p:cNvPr id="8" name="TextBox 7"/>
          <p:cNvSpPr txBox="1"/>
          <p:nvPr/>
        </p:nvSpPr>
        <p:spPr>
          <a:xfrm>
            <a:off x="731520" y="5852160"/>
            <a:ext cx="10698480" cy="457200"/>
          </a:xfrm>
          <a:prstGeom prst="rect">
            <a:avLst/>
          </a:prstGeom>
          <a:noFill/>
        </p:spPr>
        <p:txBody>
          <a:bodyPr wrap="square">
            <a:spAutoFit/>
          </a:bodyPr>
          <a:lstStyle/>
          <a:p>
            <a:pPr>
              <a:spcAft>
                <a:spcPts val="1200"/>
              </a:spcAft>
              <a:defRPr sz="1400" b="0">
                <a:solidFill>
                  <a:srgbClr val="607487"/>
                </a:solidFill>
                <a:latin typeface="Aptos"/>
              </a:defRPr>
            </a:pPr>
            <a:r>
              <a:t>Topic numbers are model-local: A/T0 does not mean B/T0. Bars include top three topics, other assigned topics and outliers.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YEAR-BY-YEAR RESULTS</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2023 · both models, full eligible texts</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CLEAN-TEXT FULL-CORPUS RUN · INITIAL INTRINSIC RESULTS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25</a:t>
            </a:r>
          </a:p>
        </p:txBody>
      </p:sp>
      <p:pic>
        <p:nvPicPr>
          <p:cNvPr id="7" name="Picture 6" descr="year_2023_comparison.png"/>
          <p:cNvPicPr>
            <a:picLocks noChangeAspect="1"/>
          </p:cNvPicPr>
          <p:nvPr/>
        </p:nvPicPr>
        <p:blipFill>
          <a:blip r:embed="rId2"/>
          <a:stretch>
            <a:fillRect/>
          </a:stretch>
        </p:blipFill>
        <p:spPr>
          <a:xfrm>
            <a:off x="640080" y="1552193"/>
            <a:ext cx="10881360" cy="4119372"/>
          </a:xfrm>
          <a:prstGeom prst="rect">
            <a:avLst/>
          </a:prstGeom>
        </p:spPr>
      </p:pic>
      <p:sp>
        <p:nvSpPr>
          <p:cNvPr id="8" name="TextBox 7"/>
          <p:cNvSpPr txBox="1"/>
          <p:nvPr/>
        </p:nvSpPr>
        <p:spPr>
          <a:xfrm>
            <a:off x="731520" y="5852160"/>
            <a:ext cx="10698480" cy="457200"/>
          </a:xfrm>
          <a:prstGeom prst="rect">
            <a:avLst/>
          </a:prstGeom>
          <a:noFill/>
        </p:spPr>
        <p:txBody>
          <a:bodyPr wrap="square">
            <a:spAutoFit/>
          </a:bodyPr>
          <a:lstStyle/>
          <a:p>
            <a:pPr>
              <a:spcAft>
                <a:spcPts val="1200"/>
              </a:spcAft>
              <a:defRPr sz="1400" b="0">
                <a:solidFill>
                  <a:srgbClr val="607487"/>
                </a:solidFill>
                <a:latin typeface="Aptos"/>
              </a:defRPr>
            </a:pPr>
            <a:r>
              <a:t>Topic numbers are model-local: A/T0 does not mean B/T0. Bars include top three topics, other assigned topics and outliers.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YEAR-BY-YEAR RESULTS</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2024 · both models, full eligible texts</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CLEAN-TEXT FULL-CORPUS RUN · INITIAL INTRINSIC RESULTS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26</a:t>
            </a:r>
          </a:p>
        </p:txBody>
      </p:sp>
      <p:pic>
        <p:nvPicPr>
          <p:cNvPr id="7" name="Picture 6" descr="year_2024_comparison.png"/>
          <p:cNvPicPr>
            <a:picLocks noChangeAspect="1"/>
          </p:cNvPicPr>
          <p:nvPr/>
        </p:nvPicPr>
        <p:blipFill>
          <a:blip r:embed="rId2"/>
          <a:stretch>
            <a:fillRect/>
          </a:stretch>
        </p:blipFill>
        <p:spPr>
          <a:xfrm>
            <a:off x="640080" y="1552193"/>
            <a:ext cx="10881360" cy="4119372"/>
          </a:xfrm>
          <a:prstGeom prst="rect">
            <a:avLst/>
          </a:prstGeom>
        </p:spPr>
      </p:pic>
      <p:sp>
        <p:nvSpPr>
          <p:cNvPr id="8" name="TextBox 7"/>
          <p:cNvSpPr txBox="1"/>
          <p:nvPr/>
        </p:nvSpPr>
        <p:spPr>
          <a:xfrm>
            <a:off x="731520" y="5852160"/>
            <a:ext cx="10698480" cy="457200"/>
          </a:xfrm>
          <a:prstGeom prst="rect">
            <a:avLst/>
          </a:prstGeom>
          <a:noFill/>
        </p:spPr>
        <p:txBody>
          <a:bodyPr wrap="square">
            <a:spAutoFit/>
          </a:bodyPr>
          <a:lstStyle/>
          <a:p>
            <a:pPr>
              <a:spcAft>
                <a:spcPts val="1200"/>
              </a:spcAft>
              <a:defRPr sz="1400" b="0">
                <a:solidFill>
                  <a:srgbClr val="607487"/>
                </a:solidFill>
                <a:latin typeface="Aptos"/>
              </a:defRPr>
            </a:pPr>
            <a:r>
              <a:t>Topic numbers are model-local: A/T0 does not mean B/T0. Bars include top three topics, other assigned topics and outliers.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YEAR-BY-YEAR RESULTS</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2025 · both models, full eligible texts</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CLEAN-TEXT FULL-CORPUS RUN · INITIAL INTRINSIC RESULTS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27</a:t>
            </a:r>
          </a:p>
        </p:txBody>
      </p:sp>
      <p:pic>
        <p:nvPicPr>
          <p:cNvPr id="7" name="Picture 6" descr="year_2025_comparison.png"/>
          <p:cNvPicPr>
            <a:picLocks noChangeAspect="1"/>
          </p:cNvPicPr>
          <p:nvPr/>
        </p:nvPicPr>
        <p:blipFill>
          <a:blip r:embed="rId2"/>
          <a:stretch>
            <a:fillRect/>
          </a:stretch>
        </p:blipFill>
        <p:spPr>
          <a:xfrm>
            <a:off x="640080" y="1552193"/>
            <a:ext cx="10881360" cy="4119372"/>
          </a:xfrm>
          <a:prstGeom prst="rect">
            <a:avLst/>
          </a:prstGeom>
        </p:spPr>
      </p:pic>
      <p:sp>
        <p:nvSpPr>
          <p:cNvPr id="8" name="TextBox 7"/>
          <p:cNvSpPr txBox="1"/>
          <p:nvPr/>
        </p:nvSpPr>
        <p:spPr>
          <a:xfrm>
            <a:off x="731520" y="5852160"/>
            <a:ext cx="10698480" cy="457200"/>
          </a:xfrm>
          <a:prstGeom prst="rect">
            <a:avLst/>
          </a:prstGeom>
          <a:noFill/>
        </p:spPr>
        <p:txBody>
          <a:bodyPr wrap="square">
            <a:spAutoFit/>
          </a:bodyPr>
          <a:lstStyle/>
          <a:p>
            <a:pPr>
              <a:spcAft>
                <a:spcPts val="1200"/>
              </a:spcAft>
              <a:defRPr sz="1400" b="0">
                <a:solidFill>
                  <a:srgbClr val="607487"/>
                </a:solidFill>
                <a:latin typeface="Aptos"/>
              </a:defRPr>
            </a:pPr>
            <a:r>
              <a:t>Topic numbers are model-local: A/T0 does not mean B/T0. Bars include top three topics, other assigned topics and outliers.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Clean-text full-corpus initial results</dc:title>
  <dc:subject>Davao ordinance topic modeling: lexical vs Legal-BERT</dc:subject>
  <dc:creator>Corpuz; Lamsin; Nuril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